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13869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94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51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06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00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122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060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347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21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6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4440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40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052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01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8519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7677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443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009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9681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808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6225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4159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4741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8645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3501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614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311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B5E8D276-7577-4C61-9A74-ABB0C7B32683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A43EE5BE-48E2-4283-9189-D782F4AA5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91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  <p:sldLayoutId id="2147483781" r:id="rId19"/>
    <p:sldLayoutId id="2147483782" r:id="rId20"/>
    <p:sldLayoutId id="2147483783" r:id="rId21"/>
    <p:sldLayoutId id="2147483784" r:id="rId22"/>
    <p:sldLayoutId id="2147483785" r:id="rId23"/>
    <p:sldLayoutId id="2147483786" r:id="rId24"/>
    <p:sldLayoutId id="2147483787" r:id="rId25"/>
    <p:sldLayoutId id="2147483788" r:id="rId26"/>
    <p:sldLayoutId id="2147483789" r:id="rId27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3C922-1F2E-64B9-83D1-62077D75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38" y="1160889"/>
            <a:ext cx="7752578" cy="3999505"/>
          </a:xfrm>
        </p:spPr>
        <p:txBody>
          <a:bodyPr>
            <a:normAutofit/>
          </a:bodyPr>
          <a:lstStyle/>
          <a:p>
            <a:r>
              <a:rPr lang="ru-RU" sz="6000" dirty="0"/>
              <a:t>Способы повышения эффективности отладки и тестирования многопроцессорных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27789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95929-FBB4-B841-F540-7802C6E24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8" y="153062"/>
            <a:ext cx="10515600" cy="978408"/>
          </a:xfrm>
        </p:spPr>
        <p:txBody>
          <a:bodyPr anchor="ctr">
            <a:normAutofit/>
          </a:bodyPr>
          <a:lstStyle/>
          <a:p>
            <a:pPr algn="ctr"/>
            <a:r>
              <a:rPr lang="ru-RU" sz="3200" dirty="0"/>
              <a:t> Специфические проблемы отладки многопроцессорных систем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3BE73E-6B8B-8CA9-B6CD-4FCFF5AAA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7" y="1217549"/>
            <a:ext cx="12030323" cy="548738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/>
              <a:t>1. Недетерминизм выполнения</a:t>
            </a:r>
          </a:p>
          <a:p>
            <a:pPr marL="0" indent="0">
              <a:buNone/>
            </a:pPr>
            <a:r>
              <a:rPr lang="ru-RU" dirty="0"/>
              <a:t>Ключевой проблемой отладки многопроцессорных систем является недетерминизм выполнения. Процесс функционирования отлаживаемых систем без отладчика, вообще говоря, является недетерминированным, поэтому заранее нельзя сказать, проявятся ли ошибки в данном конкретном запуске. Отладочные действия усугубляют недетерминизм, что способно привести к исчезновению предмета отладки.</a:t>
            </a:r>
          </a:p>
          <a:p>
            <a:pPr marL="0" indent="0">
              <a:buNone/>
            </a:pPr>
            <a:r>
              <a:rPr lang="ru-RU" dirty="0"/>
              <a:t>Недетерминизм также затрудняет оценку покрытия тестами. Хорошее покрытие требует как широкого диапазона входных данных программы, так и широкого диапазона возможных чередований потоков.</a:t>
            </a:r>
          </a:p>
          <a:p>
            <a:pPr marL="0" indent="0">
              <a:buNone/>
            </a:pPr>
            <a:r>
              <a:rPr lang="ru-RU" b="1" dirty="0"/>
              <a:t>2. Типичные классы ошибок</a:t>
            </a:r>
          </a:p>
          <a:p>
            <a:pPr marL="0" indent="0">
              <a:buNone/>
            </a:pPr>
            <a:r>
              <a:rPr lang="ru-RU" dirty="0"/>
              <a:t>К основным типам ошибок синхронизации в многопоточных программах относятся:</a:t>
            </a:r>
          </a:p>
          <a:p>
            <a:r>
              <a:rPr lang="ru-RU" dirty="0"/>
              <a:t>Взаимная блокировка потоков/процессов (</a:t>
            </a:r>
            <a:r>
              <a:rPr lang="ru-RU" dirty="0" err="1"/>
              <a:t>Deadlock</a:t>
            </a:r>
            <a:r>
              <a:rPr lang="ru-RU" dirty="0"/>
              <a:t>) — ситуация, при которой потоки бесконечно ожидают ресурсы, удерживаемые друг другом;</a:t>
            </a:r>
          </a:p>
          <a:p>
            <a:r>
              <a:rPr lang="ru-RU" dirty="0"/>
              <a:t>Гонки данных (Data </a:t>
            </a:r>
            <a:r>
              <a:rPr lang="ru-RU" dirty="0" err="1"/>
              <a:t>races</a:t>
            </a:r>
            <a:r>
              <a:rPr lang="ru-RU" dirty="0"/>
              <a:t>) — конкурентная модификация данных из разных потоков без должной синхронизации;</a:t>
            </a:r>
          </a:p>
          <a:p>
            <a:r>
              <a:rPr lang="ru-RU" dirty="0"/>
              <a:t>Недетерминированное выполнение конструкций синхронизации — результат выполнения зависит от порядка планирования потоков;</a:t>
            </a:r>
          </a:p>
          <a:p>
            <a:r>
              <a:rPr lang="ru-RU" dirty="0"/>
              <a:t>Некорректное использование функций синхронизации (</a:t>
            </a:r>
            <a:r>
              <a:rPr lang="ru-RU" dirty="0" err="1"/>
              <a:t>Blocking</a:t>
            </a:r>
            <a:r>
              <a:rPr lang="ru-RU" dirty="0"/>
              <a:t> </a:t>
            </a:r>
            <a:r>
              <a:rPr lang="ru-RU" dirty="0" err="1"/>
              <a:t>call</a:t>
            </a:r>
            <a:r>
              <a:rPr lang="ru-RU" dirty="0"/>
              <a:t> </a:t>
            </a:r>
            <a:r>
              <a:rPr lang="ru-RU" dirty="0" err="1"/>
              <a:t>misuse</a:t>
            </a:r>
            <a:r>
              <a:rPr lang="ru-RU" dirty="0"/>
              <a:t>);</a:t>
            </a:r>
          </a:p>
          <a:p>
            <a:r>
              <a:rPr lang="ru-RU" dirty="0"/>
              <a:t>Отсутствие прогресса в выполнении программы (</a:t>
            </a:r>
            <a:r>
              <a:rPr lang="ru-RU" dirty="0" err="1"/>
              <a:t>Livelock</a:t>
            </a:r>
            <a:r>
              <a:rPr lang="ru-RU" dirty="0"/>
              <a:t>);</a:t>
            </a:r>
          </a:p>
          <a:p>
            <a:r>
              <a:rPr lang="ru-RU" dirty="0"/>
              <a:t>Отсутствие достаточных ресурсов для выполнения (</a:t>
            </a:r>
            <a:r>
              <a:rPr lang="ru-RU" dirty="0" err="1"/>
              <a:t>Starvation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b="1" dirty="0"/>
              <a:t>3. Ограничения традиционных инструментов</a:t>
            </a:r>
          </a:p>
          <a:p>
            <a:pPr marL="0" indent="0">
              <a:buNone/>
            </a:pPr>
            <a:r>
              <a:rPr lang="ru-RU" dirty="0"/>
              <a:t>Традиционный набор инструментов отладки (интерактивный отладчик, трассировщик, библиотеки самоконтроля, воспроизведения и отладки производительности) не теряет своей актуальности, но варианты применения инструментов отладки изменяются. Чем сложнее отлаживаемая система, тем менее эффективна интерактивная отладка: слишком много факторов приходится принимать во внимание и много данных необходимо проанализировать.</a:t>
            </a:r>
          </a:p>
          <a:p>
            <a:endParaRPr lang="ru-RU" sz="700" dirty="0"/>
          </a:p>
        </p:txBody>
      </p:sp>
    </p:spTree>
    <p:extLst>
      <p:ext uri="{BB962C8B-B14F-4D97-AF65-F5344CB8AC3E}">
        <p14:creationId xmlns:p14="http://schemas.microsoft.com/office/powerpoint/2010/main" val="1684841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F20B-E29E-28F0-F4CB-868150B4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758" y="49696"/>
            <a:ext cx="10515600" cy="978408"/>
          </a:xfrm>
        </p:spPr>
        <p:txBody>
          <a:bodyPr anchor="ctr">
            <a:normAutofit/>
          </a:bodyPr>
          <a:lstStyle/>
          <a:p>
            <a:pPr algn="ctr"/>
            <a:r>
              <a:rPr lang="ru-RU" sz="3200" dirty="0"/>
              <a:t>Методы отладки многопроцессорных систем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616894-C67C-D0BD-5C76-C5D83BA39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172" y="962109"/>
            <a:ext cx="11871298" cy="57965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1. Интерактивная отладка и её развитие</a:t>
            </a:r>
          </a:p>
          <a:p>
            <a:pPr marL="0" indent="0">
              <a:buNone/>
            </a:pPr>
            <a:r>
              <a:rPr lang="ru-RU" dirty="0"/>
              <a:t>Наиболее популярным инструментом интерактивной отладки является GDB. Однако на момент написания соответствующей статьи он оставался </a:t>
            </a:r>
            <a:r>
              <a:rPr lang="ru-RU" dirty="0" err="1"/>
              <a:t>однопроцессным</a:t>
            </a:r>
            <a:r>
              <a:rPr lang="ru-RU" dirty="0"/>
              <a:t>; </a:t>
            </a:r>
            <a:r>
              <a:rPr lang="ru-RU" dirty="0" err="1"/>
              <a:t>многопроцессные</a:t>
            </a:r>
            <a:r>
              <a:rPr lang="ru-RU" dirty="0"/>
              <a:t> возможности были на начальной стадии реализации. Предложена реализация так называемой безостановочной </a:t>
            </a:r>
            <a:r>
              <a:rPr lang="ru-RU" dirty="0" err="1"/>
              <a:t>многопроцессной</a:t>
            </a:r>
            <a:r>
              <a:rPr lang="ru-RU" dirty="0"/>
              <a:t> отладки, ориентированной на слабосвязанные системы. Безостановочность заключается в возможности отладки отдельного потока в операционной среде Linux без остановки процесса целиком. Такая функциональность достигается за счёт расширения возможностей агента отладки, а также существенной переработки внутреннего устройства отладчика, создания механизма асинхронного обслуживания событий и контроля применимости отладочных действий.</a:t>
            </a:r>
          </a:p>
          <a:p>
            <a:pPr marL="0" indent="0">
              <a:buNone/>
            </a:pPr>
            <a:r>
              <a:rPr lang="ru-RU" b="1" dirty="0"/>
              <a:t>2. Трассировка</a:t>
            </a:r>
          </a:p>
          <a:p>
            <a:pPr marL="0" indent="0">
              <a:buNone/>
            </a:pPr>
            <a:r>
              <a:rPr lang="ru-RU" dirty="0"/>
              <a:t>Вероятно, основным инструментом отладки </a:t>
            </a:r>
            <a:r>
              <a:rPr lang="ru-RU" dirty="0" err="1"/>
              <a:t>многопроцессных</a:t>
            </a:r>
            <a:r>
              <a:rPr lang="ru-RU" dirty="0"/>
              <a:t> систем можно считать трассировку. Трассировка позволяет отслеживать поток данных через систему и фиксировать последовательность событий, что особенно важно для анализа асинхронных взаимодействий между процессами.</a:t>
            </a:r>
          </a:p>
          <a:p>
            <a:pPr marL="0" indent="0">
              <a:buNone/>
            </a:pPr>
            <a:r>
              <a:rPr lang="ru-RU" b="1" dirty="0"/>
              <a:t>3. Детерминированное воспроизведение</a:t>
            </a:r>
          </a:p>
          <a:p>
            <a:pPr marL="0" indent="0">
              <a:buNone/>
            </a:pPr>
            <a:r>
              <a:rPr lang="ru-RU" dirty="0"/>
              <a:t>Детерминированное воспроизведение (</a:t>
            </a:r>
            <a:r>
              <a:rPr lang="ru-RU" dirty="0" err="1"/>
              <a:t>deterministic</a:t>
            </a:r>
            <a:r>
              <a:rPr lang="ru-RU" dirty="0"/>
              <a:t> </a:t>
            </a:r>
            <a:r>
              <a:rPr lang="ru-RU" dirty="0" err="1"/>
              <a:t>replay</a:t>
            </a:r>
            <a:r>
              <a:rPr lang="ru-RU" dirty="0"/>
              <a:t>) — техника, при которой при одном и том же входе многопоточное приложение выполняется с одним и тем же результатом. Традиционно системы детерминированного воспроизведения страдают существенным снижением производительности из-за накладных расходов на ведение журнала воспроизведения. Кроме того, разработчик не имеет контроля над тем, как выполняется чередование потоков, в результате чего ошибки синхронизации, возникающие при определённых чередованиях операций, могут остаться невыявленными.</a:t>
            </a:r>
          </a:p>
          <a:p>
            <a:pPr marL="0" indent="0">
              <a:buNone/>
            </a:pPr>
            <a:r>
              <a:rPr lang="ru-RU" dirty="0"/>
              <a:t>Тем не менее существуют эффективные подходы, такие как система SMP-</a:t>
            </a:r>
            <a:r>
              <a:rPr lang="ru-RU" dirty="0" err="1"/>
              <a:t>ReVirt</a:t>
            </a:r>
            <a:r>
              <a:rPr lang="ru-RU" dirty="0"/>
              <a:t> — первая система для журналирования и воспроизведения многопроцессорной виртуальной машины на серийном оборудовании. Она использует аппаратную защиту страниц для обнаружения и точного воспроизведения разделения памяти между виртуальными процессорами, что позволяет воспроизводить всю операционную систему и все приложения целиком.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090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71235-2E47-39BA-9BCE-55F4E74E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A84D5D-79AF-1703-8233-1B7267E07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758" y="49696"/>
            <a:ext cx="10515600" cy="978408"/>
          </a:xfrm>
        </p:spPr>
        <p:txBody>
          <a:bodyPr anchor="ctr">
            <a:normAutofit/>
          </a:bodyPr>
          <a:lstStyle/>
          <a:p>
            <a:pPr algn="ctr"/>
            <a:r>
              <a:rPr lang="ru-RU" sz="3200" dirty="0"/>
              <a:t>Методы отладки многопроцессорных систем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29FB38-EEBD-6208-168E-7E2D90D2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172" y="962109"/>
            <a:ext cx="11871298" cy="55261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4. Статический анализ</a:t>
            </a:r>
          </a:p>
          <a:p>
            <a:pPr marL="0" indent="0">
              <a:buNone/>
            </a:pPr>
            <a:r>
              <a:rPr lang="ru-RU" dirty="0"/>
              <a:t>Статические методы анализа не требуют запуска программы — они анализируют исходный код или скомпилированные файлы. Статические методы анализа исследуют текст программы для обнаружения множества гонок и взаимных блокировок, которые могут возникнуть во время выполнения параллельной программы.</a:t>
            </a:r>
          </a:p>
          <a:p>
            <a:pPr marL="0" indent="0">
              <a:buNone/>
            </a:pPr>
            <a:r>
              <a:rPr lang="ru-RU" dirty="0"/>
              <a:t>К методам статического анализа многопоточных программ относятся:</a:t>
            </a:r>
          </a:p>
          <a:p>
            <a:pPr marL="0" lvl="0" indent="0">
              <a:buNone/>
            </a:pPr>
            <a:r>
              <a:rPr lang="ru-RU" dirty="0"/>
              <a:t>анализ частичных порядков;</a:t>
            </a:r>
          </a:p>
          <a:p>
            <a:pPr marL="0" lvl="0" indent="0">
              <a:buNone/>
            </a:pPr>
            <a:r>
              <a:rPr lang="ru-RU" dirty="0"/>
              <a:t>анализ количества конструкций синхронизации (</a:t>
            </a:r>
            <a:r>
              <a:rPr lang="ru-RU" dirty="0" err="1"/>
              <a:t>Lockset</a:t>
            </a:r>
            <a:r>
              <a:rPr lang="ru-RU" dirty="0"/>
              <a:t>-анализ);</a:t>
            </a:r>
          </a:p>
          <a:p>
            <a:pPr marL="0" lvl="0" indent="0">
              <a:buNone/>
            </a:pPr>
            <a:r>
              <a:rPr lang="ru-RU" dirty="0"/>
              <a:t>подходы на основе извлечения инвариантов.</a:t>
            </a:r>
          </a:p>
          <a:p>
            <a:pPr marL="0" indent="0">
              <a:buNone/>
            </a:pPr>
            <a:r>
              <a:rPr lang="ru-RU" dirty="0"/>
              <a:t>Для моделирования семантики многопоточных программ используется граф блокировок, который строится во время основного анализа.</a:t>
            </a:r>
          </a:p>
          <a:p>
            <a:pPr marL="0" indent="0">
              <a:buNone/>
            </a:pPr>
            <a:r>
              <a:rPr lang="ru-RU" b="1" dirty="0"/>
              <a:t>5. Динамический анализ</a:t>
            </a:r>
          </a:p>
          <a:p>
            <a:pPr marL="0" indent="0">
              <a:buNone/>
            </a:pPr>
            <a:r>
              <a:rPr lang="ru-RU" dirty="0"/>
              <a:t>Динамические методы анализа анализируют информацию, собранную во время выполнения программы, для обнаружения гонок и потенциальных взаимных блокировок. Инструмент </a:t>
            </a:r>
            <a:r>
              <a:rPr lang="ru-RU" dirty="0" err="1"/>
              <a:t>RaceHunter</a:t>
            </a:r>
            <a:r>
              <a:rPr lang="ru-RU" dirty="0"/>
              <a:t> представляет собой метод динамического поиска гонок по данным, который выполняет мониторинг многопоточной программы, выявляет конфликтующие доступы к памяти и систематически проверяет их на гонки по данным.</a:t>
            </a:r>
          </a:p>
          <a:p>
            <a:pPr marL="0" indent="0">
              <a:buNone/>
            </a:pPr>
            <a:r>
              <a:rPr lang="ru-RU" b="1" dirty="0"/>
              <a:t>6. Отладка с использованием интерфейса JTAG</a:t>
            </a:r>
          </a:p>
          <a:p>
            <a:pPr marL="0" indent="0">
              <a:buNone/>
            </a:pPr>
            <a:r>
              <a:rPr lang="ru-RU" dirty="0"/>
              <a:t>Рассматривается метод автоматического обнаружения ошибок в системах с распределённой памятью, а также метод отладки с использованием интерфейса JTAG. Предлагается методика комплексной отладки ошибок двух родов в многопроцессорных системах управления.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3179420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76B94-D715-89E7-B704-933316C9A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45111"/>
            <a:ext cx="10515600" cy="978408"/>
          </a:xfrm>
        </p:spPr>
        <p:txBody>
          <a:bodyPr anchor="ctr">
            <a:normAutofit/>
          </a:bodyPr>
          <a:lstStyle/>
          <a:p>
            <a:pPr algn="ctr"/>
            <a:r>
              <a:rPr lang="ru-RU" sz="3200" dirty="0"/>
              <a:t>Методы тестирования многопроцессорных систем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BB54D3-9755-9AC3-32A9-2095D541C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97" y="1225500"/>
            <a:ext cx="11919005" cy="52011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1. Тестирование коммуникационной сети</a:t>
            </a:r>
          </a:p>
          <a:p>
            <a:pPr marL="0" indent="0">
              <a:buNone/>
            </a:pPr>
            <a:r>
              <a:rPr lang="ru-RU" dirty="0"/>
              <a:t>Важнейшей компонентой многопроцессорной вычислительной системы является коммуникационная сеть, или сеть обмена, с помощью которой процессоры соединяются друг с другом или с памятью. Для обеспечения межпроцессорного обмена наряду с шинами VME, PCI Express, </a:t>
            </a:r>
            <a:r>
              <a:rPr lang="ru-RU" dirty="0" err="1"/>
              <a:t>HyperTransport</a:t>
            </a:r>
            <a:r>
              <a:rPr lang="ru-RU" dirty="0"/>
              <a:t> и другими бурно развивается интерфейс </a:t>
            </a:r>
            <a:r>
              <a:rPr lang="ru-RU" dirty="0" err="1"/>
              <a:t>RapidIO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При разработке многопроцессорных систем на базе </a:t>
            </a:r>
            <a:r>
              <a:rPr lang="ru-RU" dirty="0" err="1"/>
              <a:t>RapidIO</a:t>
            </a:r>
            <a:r>
              <a:rPr lang="ru-RU" dirty="0"/>
              <a:t> отладка и первоначальное тестирование макетных и опытных образцов систем являются отдельной серьёзной проблемой. Полноразмерное тестирование выполняется под операционными системами (Linux и ОС РВ Багет 2.0 и 3.0), однако для их успешного запуска необходимо обеспечить достаточный уровень работоспособности и коммуникационной сети, и процессорных узлов.</a:t>
            </a:r>
          </a:p>
          <a:p>
            <a:pPr marL="0" indent="0">
              <a:buNone/>
            </a:pPr>
            <a:r>
              <a:rPr lang="ru-RU" b="1" dirty="0"/>
              <a:t>2. Тестирование с использованием встроенной </a:t>
            </a:r>
            <a:r>
              <a:rPr lang="ru-RU" b="1" dirty="0" err="1"/>
              <a:t>RapidIO</a:t>
            </a:r>
            <a:r>
              <a:rPr lang="ru-RU" b="1" dirty="0"/>
              <a:t>-консоли</a:t>
            </a:r>
          </a:p>
          <a:p>
            <a:pPr marL="0" indent="0">
              <a:buNone/>
            </a:pPr>
            <a:r>
              <a:rPr lang="ru-RU" dirty="0"/>
              <a:t>Первый способ тестирования опирается на возможности встроенной </a:t>
            </a:r>
            <a:r>
              <a:rPr lang="ru-RU" dirty="0" err="1"/>
              <a:t>RapidIO</a:t>
            </a:r>
            <a:r>
              <a:rPr lang="ru-RU" dirty="0"/>
              <a:t>-консоли программы ПЗУ. Эта консоль позволяет после успешной инициализации коммутаторов </a:t>
            </a:r>
            <a:r>
              <a:rPr lang="ru-RU" dirty="0" err="1"/>
              <a:t>RapidIO</a:t>
            </a:r>
            <a:r>
              <a:rPr lang="ru-RU" dirty="0"/>
              <a:t> подключиться к любому процессорному узлу и выйти на командный диалог с программой ПЗУ данного узла, что снижает затраты на дополнительное оборудование для тестирования и отладки функциональных узлов отдельных процессоров. Сокращается время на подготовку отдельного стенда для тестирования.</a:t>
            </a:r>
          </a:p>
          <a:p>
            <a:pPr marL="0" indent="0">
              <a:buNone/>
            </a:pPr>
            <a:r>
              <a:rPr lang="ru-RU" dirty="0"/>
              <a:t>Среди доступных команд есть команды загрузки данных с инструментальной машины (по </a:t>
            </a:r>
            <a:r>
              <a:rPr lang="ru-RU" dirty="0" err="1"/>
              <a:t>zmodem</a:t>
            </a:r>
            <a:r>
              <a:rPr lang="ru-RU" dirty="0"/>
              <a:t> или по протоколу TFTP через контроллер Ethernet) и передачи массивов данных из одного узла в другой. В качестве пересылаемых данных могут выступать тестовые программы и результаты их работы.</a:t>
            </a:r>
          </a:p>
          <a:p>
            <a:pPr marL="0" indent="0">
              <a:buNone/>
            </a:pPr>
            <a:r>
              <a:rPr lang="ru-RU" b="1" dirty="0"/>
              <a:t>3. Параллельное тестирование</a:t>
            </a:r>
          </a:p>
          <a:p>
            <a:pPr marL="0" indent="0">
              <a:buNone/>
            </a:pPr>
            <a:r>
              <a:rPr lang="ru-RU" dirty="0"/>
              <a:t>Аппаратура и метод для тестирования многоядерных процессоров путём одновременного тестирования каждого из множества ядер. Полный вектор результатов тестирования для каждого ядра может быть проанализирован. Альтернативный подход заключается в тестировании каждого ядра индивидуально, в то время как другие ядра на кристалле временно «отключаются».</a:t>
            </a:r>
          </a:p>
          <a:p>
            <a:pPr marL="0" indent="0">
              <a:buNone/>
            </a:pPr>
            <a:r>
              <a:rPr lang="ru-RU" b="1" dirty="0"/>
              <a:t>4. Параллельное распределение автоматических тестов</a:t>
            </a:r>
          </a:p>
          <a:p>
            <a:pPr marL="0" indent="0">
              <a:buNone/>
            </a:pPr>
            <a:r>
              <a:rPr lang="ru-RU" dirty="0"/>
              <a:t>Представлен метод параллельного распределения автоматических тестов и уменьшения времени тестирования. В основе метода лежит использование возможностей операционной системы Linux, а также современных многопроцессорных компьютеров.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4126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0FE34B-E705-8091-8AE3-2F67BB40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ru-RU" sz="3600" dirty="0"/>
              <a:t>Инструментальные средства отладки и тестирования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7840DE-5EBE-9FE2-E33B-13054F66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83" y="1511748"/>
            <a:ext cx="11728174" cy="51355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1. Средства отладки параллельных приложений</a:t>
            </a:r>
          </a:p>
          <a:p>
            <a:pPr marL="0" indent="0">
              <a:buNone/>
            </a:pP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Trace</a:t>
            </a:r>
            <a:r>
              <a:rPr lang="ru-RU" dirty="0"/>
              <a:t> Analysis Tool (STAT) — </a:t>
            </a:r>
            <a:r>
              <a:rPr lang="ru-RU" dirty="0" err="1"/>
              <a:t>высокомасштабируемый</a:t>
            </a:r>
            <a:r>
              <a:rPr lang="ru-RU" dirty="0"/>
              <a:t> лёгкий отладчик для параллельных приложений. В типичном сценарии графический интерфейс STAT используется для отладки работающего или зависшего приложения.</a:t>
            </a:r>
          </a:p>
          <a:p>
            <a:pPr marL="0" indent="0">
              <a:buNone/>
            </a:pPr>
            <a:r>
              <a:rPr lang="ru-RU" b="1" dirty="0"/>
              <a:t>2. Отладка асинхронного кода</a:t>
            </a:r>
          </a:p>
          <a:p>
            <a:pPr marL="0" indent="0">
              <a:buNone/>
            </a:pPr>
            <a:r>
              <a:rPr lang="ru-RU" dirty="0"/>
              <a:t>Отладка асинхронного кода представляет собой сложную задачу, поскольку задачи часто планируются в одном потоке, а выполняются в другом. Каждый поток имеет свой собственный стек вызовов, что затрудняет понимание того, что произошло до запуска потока. Современные среды разработки, такие как </a:t>
            </a:r>
            <a:r>
              <a:rPr lang="ru-RU" dirty="0" err="1"/>
              <a:t>IntelliJ</a:t>
            </a:r>
            <a:r>
              <a:rPr lang="ru-RU" dirty="0"/>
              <a:t> IDEA, упрощают эту задачу путём установления связи между кадрами в разных потоках. Это позволяет просмотреть от рабочего потока до места, где задача была запланирована, и отлаживать программу так, как если бы выполнение происходило в одном потоке.</a:t>
            </a:r>
          </a:p>
          <a:p>
            <a:pPr marL="0" indent="0">
              <a:buNone/>
            </a:pPr>
            <a:r>
              <a:rPr lang="ru-RU" b="1" dirty="0"/>
              <a:t>3. Аппаратные средства отладки</a:t>
            </a:r>
          </a:p>
          <a:p>
            <a:pPr marL="0" indent="0">
              <a:buNone/>
            </a:pPr>
            <a:r>
              <a:rPr lang="ru-RU" dirty="0"/>
              <a:t>Современные аппаратные средства отладки поддерживают возможность отладки и трассировки приложений, операционных систем, гипервизоров и другого программного обеспечения, работающего на нескольких ядрах многоядерной системы. Возможна отладка более 150 ядер, независимо от того, являются ли они гомогенными или гетерогенными.</a:t>
            </a:r>
          </a:p>
          <a:p>
            <a:pPr marL="0" indent="0">
              <a:buNone/>
            </a:pPr>
            <a:r>
              <a:rPr lang="ru-RU" dirty="0"/>
              <a:t>Устройство поддержки отладки для многопроцессорной системы, конфигурируемой множеством единичных процессоров, позволяет онлайн-отладчику останавливать единичный процессор, выполняющий поток, в котором возникает обработка исключения, вместе с единичными процессорами, выполняющими другие потоки, когда обработка исключения программного обеспечения происходит по точке останова.</a:t>
            </a:r>
          </a:p>
          <a:p>
            <a:pPr marL="0" indent="0">
              <a:buNone/>
            </a:pPr>
            <a:r>
              <a:rPr lang="ru-RU" b="1" dirty="0"/>
              <a:t>4. Виртуализация для отладки</a:t>
            </a:r>
          </a:p>
          <a:p>
            <a:pPr marL="0" indent="0">
              <a:buNone/>
            </a:pPr>
            <a:r>
              <a:rPr lang="ru-RU" dirty="0"/>
              <a:t>Подход, основанный на тесной интеграции между отладчиком и базовой системой параллельного исполнения приложения, позволяет отлаживать крупномасштабные приложения в </a:t>
            </a:r>
            <a:r>
              <a:rPr lang="ru-RU" dirty="0" err="1"/>
              <a:t>виртуализованной</a:t>
            </a:r>
            <a:r>
              <a:rPr lang="ru-RU" dirty="0"/>
              <a:t> среде. С появлением машин </a:t>
            </a:r>
            <a:r>
              <a:rPr lang="ru-RU" dirty="0" err="1"/>
              <a:t>petascale</a:t>
            </a:r>
            <a:r>
              <a:rPr lang="ru-RU" dirty="0"/>
              <a:t> с сотнями тысяч процессоров отладка параллельных приложений становится всё более сложной задачей.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4887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E25E5-8AE9-8A30-D4A9-7F1C7B5E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367748"/>
            <a:ext cx="10515600" cy="978408"/>
          </a:xfrm>
        </p:spPr>
        <p:txBody>
          <a:bodyPr anchor="ctr"/>
          <a:lstStyle/>
          <a:p>
            <a:pPr algn="ctr"/>
            <a:r>
              <a:rPr lang="ru-RU" dirty="0"/>
              <a:t>Перспективные направления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423954-84D5-C366-823B-53C21939E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6814323" cy="4599432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1. Формальная верификация</a:t>
            </a:r>
          </a:p>
          <a:p>
            <a:pPr marL="0" indent="0">
              <a:buNone/>
            </a:pPr>
            <a:r>
              <a:rPr lang="ru-RU" dirty="0" err="1"/>
              <a:t>DafnyMPI</a:t>
            </a:r>
            <a:r>
              <a:rPr lang="ru-RU" dirty="0"/>
              <a:t> представляет собой новый масштабируемый подход к формальной верификации программного обеспечения MPI. </a:t>
            </a:r>
            <a:r>
              <a:rPr lang="ru-RU" dirty="0" err="1"/>
              <a:t>DafnyMPI</a:t>
            </a:r>
            <a:r>
              <a:rPr lang="ru-RU" dirty="0"/>
              <a:t> позволяет доказывать отсутствие взаимных блокировок, </a:t>
            </a:r>
            <a:r>
              <a:rPr lang="ru-RU" dirty="0" err="1"/>
              <a:t>завершаемость</a:t>
            </a:r>
            <a:r>
              <a:rPr lang="ru-RU" dirty="0"/>
              <a:t> и функциональную эквивалентность более простым последовательным реализациям.</a:t>
            </a:r>
          </a:p>
          <a:p>
            <a:pPr marL="0" indent="0">
              <a:buNone/>
            </a:pPr>
            <a:r>
              <a:rPr lang="ru-RU" dirty="0" err="1"/>
              <a:t>Spin</a:t>
            </a:r>
            <a:r>
              <a:rPr lang="ru-RU" dirty="0"/>
              <a:t> — инструмент формальной верификации многопоточного, параллельного и распределённого программного обеспечения. Он использует поиск в глубину и ширину, а также частичное сокращение порядка для сжатия пространства состояний.</a:t>
            </a:r>
          </a:p>
          <a:p>
            <a:pPr marL="0" indent="0">
              <a:buNone/>
            </a:pPr>
            <a:r>
              <a:rPr lang="ru-RU" b="1" dirty="0"/>
              <a:t>2. Гибридные методы обнаружения гонок</a:t>
            </a:r>
          </a:p>
          <a:p>
            <a:pPr marL="0" indent="0">
              <a:buNone/>
            </a:pPr>
            <a:r>
              <a:rPr lang="ru-RU" dirty="0"/>
              <a:t>Гибридные алгоритмы обнаружения гонок сочетают преимущества статических и динамических подходов, позволяя повысить точность и полноту обнаружения ошибок.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85E74D-574B-821F-C50B-2BB4C9394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319" y="1511748"/>
            <a:ext cx="2190750" cy="18192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71730A-EA68-3610-9B94-E939DEC78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939" y="3675642"/>
            <a:ext cx="2190749" cy="23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59221"/>
      </p:ext>
    </p:extLst>
  </p:cSld>
  <p:clrMapOvr>
    <a:masterClrMapping/>
  </p:clrMapOvr>
</p:sld>
</file>

<file path=ppt/theme/theme1.xml><?xml version="1.0" encoding="utf-8"?>
<a:theme xmlns:a="http://schemas.openxmlformats.org/drawingml/2006/main" name="Учебные дни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23</TotalTime>
  <Words>1353</Words>
  <Application>Microsoft Office PowerPoint</Application>
  <PresentationFormat>Широкоэкранный</PresentationFormat>
  <Paragraphs>62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JasmineUPC</vt:lpstr>
      <vt:lpstr>Raleway</vt:lpstr>
      <vt:lpstr>Учебные дни</vt:lpstr>
      <vt:lpstr>Способы повышения эффективности отладки и тестирования многопроцессорных систем</vt:lpstr>
      <vt:lpstr> Специфические проблемы отладки многопроцессорных систем</vt:lpstr>
      <vt:lpstr>Методы отладки многопроцессорных систем</vt:lpstr>
      <vt:lpstr>Методы отладки многопроцессорных систем</vt:lpstr>
      <vt:lpstr>Методы тестирования многопроцессорных систем</vt:lpstr>
      <vt:lpstr>Инструментальные средства отладки и тестирования</vt:lpstr>
      <vt:lpstr>Перспективные направления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matve</dc:creator>
  <cp:lastModifiedBy>matve</cp:lastModifiedBy>
  <cp:revision>1</cp:revision>
  <dcterms:created xsi:type="dcterms:W3CDTF">2026-09-21T10:35:52Z</dcterms:created>
  <dcterms:modified xsi:type="dcterms:W3CDTF">2026-09-21T10:59:38Z</dcterms:modified>
</cp:coreProperties>
</file>