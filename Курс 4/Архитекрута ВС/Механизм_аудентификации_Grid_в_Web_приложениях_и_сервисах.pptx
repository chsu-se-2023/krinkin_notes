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C3E9D1-54D1-413A-87B6-914E0535177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CAE49-59BF-4F05-8229-2AB89CD68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602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CCAE49-59BF-4F05-8229-2AB89CD687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74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7236D-B482-DE54-AB8C-5B66CEC09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73DEDE9-F202-B460-5B66-9B99C651B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E124F3-767F-55E2-7443-63A5DC0A2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090F0E-199E-4955-5EAB-875C03085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C68035-DC5A-52AA-0BEE-2DDD646B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219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FA3A69-33B3-5E71-F2B3-6F39E2C98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37309E-0D53-2316-E1A6-0101A1EEA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F5571A-5B20-967A-496E-79BB824C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99AB93-E616-0268-1F2A-B3A6D0629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E6131A-BE5F-D09B-4142-72446248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76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6B2C7-7BBC-F8F5-CA61-8B4C4AA2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BCBA40-C963-E3DC-300F-167C67D19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3E7F2E-3F19-517E-2F3F-72331D8E1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1A09FF-E78D-677A-D999-3B67C232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06A7A7-511C-C6FB-C321-B942EA671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32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20355-CF1C-7912-A1FE-38E443347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A35441-BE0D-7709-511F-D3143026DC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EDEE6B7-601D-EEEC-7449-E9444B5CF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11017D-9653-593B-D15C-1C5B43AE3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A550DB-88DC-BC48-01C7-616A629A6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74904AD-5102-8FA6-64C1-2D94B3AC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226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F5C23B-0DD4-3DF8-7F6F-B625D659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84CFFE-2D4C-1526-8F4A-69238CECB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0FC9E2-28E9-2738-A508-9E4067433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DC3B27-3194-F398-59E8-7F7D979C11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626DFB-528D-E7E4-0EC7-B6EA8F8798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AAADAF4-29AD-E5C7-67C1-71C0AC16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56C765D-068A-DDEF-3443-F1BAD0E05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0A35A9D-15A9-6D23-C147-D504308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789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3394B-819B-3BA2-0AEB-D9E0EDDA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271B31-6BE1-DA08-9E1D-20A1F9F69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2B36FD6-91DB-CBA9-67EC-60A16420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29E047-B4CB-2355-E1EC-7A7908DD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8528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2BE3EE1-6F01-26D7-C0EA-4442CDF04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AEE23D5-B543-086D-2F5B-130973C8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1A4117-3F6A-1F75-8F97-27D1688E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935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AE1B0-F203-5B8A-5C91-6DD22558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EE7618-CACF-124F-4E75-67C223A0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87882D-90AA-CEDD-0F9F-98D6620942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857D76-8C7A-4BB2-8E30-6164A08D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6FF33C-5120-4AF2-EBCD-581D693FA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1399B0-6720-A6B0-F94F-7AC67B79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803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4974EF-15D1-69B9-6BE4-5D6D48A2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AF15C36-BDD5-0E6F-C469-D945500F87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A08B0F-62B1-00F6-068C-23385826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686FCA-C542-19DA-F7A3-E4AF38A88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B5FF87-B21A-FC9F-CD66-808DBD0CB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67839F-D879-CD19-C0DE-D5F9F27B6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426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76B0A-E329-BB5A-12A4-6C817F341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A9D1BC4-03A5-E67B-16C7-FE713C163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D3545A-5378-4C46-BFAF-D5598C00F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510360-150B-8DBC-A4A6-6981F9F8D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6EB646-45A1-5A83-1652-2B7FC22F8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726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769D2A-7B55-0CAA-6781-052E6D69A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C9418F-D882-F69C-04B1-82E282AC5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CDAAB4-5983-16AF-931A-E7C06D34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D04D7D-5D6B-019F-5C19-C24131F6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C037F3-BBEA-8A36-0953-98830280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32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0CE46-DB88-B2C3-7077-ECF6DE48B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9A55EC-AEB9-0045-41AD-A7F060DF5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ACF5760-5ED4-CCD8-146C-5DD7F6D8FE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D31CA-3AD0-4A5B-85AA-C108CC5D647F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EEE450-61B1-82DF-A195-EEAF0FDCCC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812FF0-BFA7-BBC6-408F-EED12AA13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783A1-09C3-4549-A540-07BAB3E0D0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2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C6096-2389-43E6-0740-399FB64C0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349" y="123423"/>
            <a:ext cx="9820275" cy="2387600"/>
          </a:xfrm>
        </p:spPr>
        <p:txBody>
          <a:bodyPr>
            <a:normAutofit fontScale="90000"/>
          </a:bodyPr>
          <a:lstStyle/>
          <a:p>
            <a:r>
              <a:rPr lang="ru-RU" dirty="0"/>
              <a:t>Механизм аутентификации Grid в Web-приложениях и сервисах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44301-452B-F7F7-D13F-9A44BCB91758}"/>
              </a:ext>
            </a:extLst>
          </p:cNvPr>
          <p:cNvSpPr txBox="1"/>
          <p:nvPr/>
        </p:nvSpPr>
        <p:spPr>
          <a:xfrm>
            <a:off x="3477491" y="5915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10" name="Google Shape;193;p1">
            <a:extLst>
              <a:ext uri="{FF2B5EF4-FFF2-40B4-BE49-F238E27FC236}">
                <a16:creationId xmlns:a16="http://schemas.microsoft.com/office/drawing/2014/main" id="{438B3690-F743-FDD2-D35C-07EBD3DE5CE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201850" y="5329182"/>
            <a:ext cx="771375" cy="77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94;p1">
            <a:extLst>
              <a:ext uri="{FF2B5EF4-FFF2-40B4-BE49-F238E27FC236}">
                <a16:creationId xmlns:a16="http://schemas.microsoft.com/office/drawing/2014/main" id="{A2D9A3B6-61C5-97DE-519E-B1B6468A8EF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40225" y="6030700"/>
            <a:ext cx="833000" cy="83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91;p1">
            <a:extLst>
              <a:ext uri="{FF2B5EF4-FFF2-40B4-BE49-F238E27FC236}">
                <a16:creationId xmlns:a16="http://schemas.microsoft.com/office/drawing/2014/main" id="{91FC77DB-E3B8-365D-9CD5-C1E36913DF87}"/>
              </a:ext>
            </a:extLst>
          </p:cNvPr>
          <p:cNvSpPr txBox="1">
            <a:spLocks/>
          </p:cNvSpPr>
          <p:nvPr/>
        </p:nvSpPr>
        <p:spPr>
          <a:xfrm>
            <a:off x="1850175" y="388507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900" dirty="0"/>
              <a:t>Выступающие:</a:t>
            </a:r>
            <a:endParaRPr lang="ru-RU" sz="3300" dirty="0"/>
          </a:p>
          <a:p>
            <a:pPr algn="r">
              <a:buClr>
                <a:schemeClr val="dk1"/>
              </a:buClr>
              <a:buSzPts val="4000"/>
            </a:pPr>
            <a:br>
              <a:rPr lang="ru-RU" sz="4900" dirty="0"/>
            </a:br>
            <a:r>
              <a:rPr lang="ru-RU" sz="4900" dirty="0"/>
              <a:t>Кринкин Олег</a:t>
            </a:r>
            <a:br>
              <a:rPr lang="ru-RU" sz="4900" dirty="0"/>
            </a:br>
            <a:r>
              <a:rPr lang="ru-RU" sz="4900" dirty="0"/>
              <a:t>Яичков Николай</a:t>
            </a:r>
            <a:endParaRPr lang="ru-RU" sz="3300" dirty="0"/>
          </a:p>
        </p:txBody>
      </p:sp>
    </p:spTree>
    <p:extLst>
      <p:ext uri="{BB962C8B-B14F-4D97-AF65-F5344CB8AC3E}">
        <p14:creationId xmlns:p14="http://schemas.microsoft.com/office/powerpoint/2010/main" val="58312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Аутентификация – Бесплатные иконки: безопасность">
            <a:extLst>
              <a:ext uri="{FF2B5EF4-FFF2-40B4-BE49-F238E27FC236}">
                <a16:creationId xmlns:a16="http://schemas.microsoft.com/office/drawing/2014/main" id="{417E5F36-F9D8-1ABA-A24F-47DF587343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681539">
            <a:off x="7827637" y="2215626"/>
            <a:ext cx="4877481" cy="487748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E3E72D-9DB1-FE16-8638-AD5ABA50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Варианты аутентификации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47F50E-7996-64BC-8404-FDCF0D6AF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	Существует 2 современных механизма аутентификации Grid в Web-приложениях и сервисах.</a:t>
            </a:r>
            <a:br>
              <a:rPr lang="ru-RU" dirty="0"/>
            </a:br>
            <a:endParaRPr lang="ru-RU" dirty="0"/>
          </a:p>
          <a:p>
            <a:pPr marL="571500" indent="-571500">
              <a:buFont typeface="+mj-lt"/>
              <a:buAutoNum type="romanUcPeriod"/>
            </a:pPr>
            <a:r>
              <a:rPr lang="ru-RU" dirty="0"/>
              <a:t>Первый – на основе персональных сертификатов.</a:t>
            </a:r>
          </a:p>
          <a:p>
            <a:pPr marL="571500" indent="-571500">
              <a:buFont typeface="+mj-lt"/>
              <a:buAutoNum type="romanUcPeriod"/>
            </a:pPr>
            <a:r>
              <a:rPr lang="ru-RU" dirty="0"/>
              <a:t>Второй – традиционные для </a:t>
            </a:r>
            <a:r>
              <a:rPr lang="en-US" dirty="0"/>
              <a:t>web</a:t>
            </a:r>
            <a:r>
              <a:rPr lang="ru-RU" dirty="0"/>
              <a:t> способов аутентификации: </a:t>
            </a:r>
            <a:r>
              <a:rPr lang="en-US" dirty="0"/>
              <a:t>OAuth </a:t>
            </a:r>
            <a:r>
              <a:rPr lang="ru-RU" dirty="0"/>
              <a:t>или </a:t>
            </a:r>
            <a:r>
              <a:rPr lang="en-US" dirty="0"/>
              <a:t>OpenID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4530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7BD1DD-6978-20E8-0EFF-816F7B9743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19874269">
            <a:off x="7431404" y="3462020"/>
            <a:ext cx="5467350" cy="33051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402E43-FB84-8685-9D8E-9B9A4534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/>
            </a:pPr>
            <a:r>
              <a:rPr lang="ru-RU" b="1" dirty="0"/>
              <a:t> Персональные сертификаты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06F767-F0D6-2B53-2CBE-C97E64159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	Каждый пользователь системы обладает персональным </a:t>
            </a:r>
            <a:r>
              <a:rPr lang="en-US" dirty="0"/>
              <a:t>X</a:t>
            </a:r>
            <a:r>
              <a:rPr lang="ru-RU" dirty="0"/>
              <a:t>.509-сертификатом продолжительного с</a:t>
            </a:r>
            <a:r>
              <a:rPr lang="en-US" dirty="0"/>
              <a:t>p</a:t>
            </a:r>
            <a:r>
              <a:rPr lang="ru-RU" dirty="0"/>
              <a:t>ока действия, который позволяет получить доступ к ресурсам распределённой </a:t>
            </a:r>
            <a:r>
              <a:rPr lang="en-US" dirty="0"/>
              <a:t>Grid</a:t>
            </a:r>
            <a:r>
              <a:rPr lang="ru-RU" dirty="0"/>
              <a:t>-среды. 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en-US" dirty="0"/>
              <a:t>X</a:t>
            </a:r>
            <a:r>
              <a:rPr lang="ru-RU" dirty="0"/>
              <a:t>.509 это формат сертификатов, представленный в 1988 году для служб электронных каталогов. Позже формат был адаптирован для использования в Интернете. Сертификат содержит в себе </a:t>
            </a:r>
            <a:r>
              <a:rPr lang="ru-RU" b="1" dirty="0"/>
              <a:t>открытый ключ, информацию о личности владельца ключа: страна, город, имя, фамилия и др</a:t>
            </a:r>
            <a:r>
              <a:rPr lang="ru-RU" dirty="0"/>
              <a:t>., о версии сертификата, а также о сроке действия, по истечению которого ключ перестаёт работать.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6734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CA14F-6EC2-A35F-748E-F9D2DA9A8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ru-RU" dirty="0"/>
              <a:t>Примеры сертификатов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0E897BC-FFC2-4BD1-1A62-A4612B7F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77" t="3262" r="277" b="1626"/>
          <a:stretch>
            <a:fillRect/>
          </a:stretch>
        </p:blipFill>
        <p:spPr>
          <a:xfrm>
            <a:off x="6722029" y="-178141"/>
            <a:ext cx="5118680" cy="703614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231AF54-26A7-DA31-E519-1BBAE56E3A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18" y="1190172"/>
            <a:ext cx="5567393" cy="52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2C59-987D-9BF9-3C95-E09A7E539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Проверка подлинности">
            <a:extLst>
              <a:ext uri="{FF2B5EF4-FFF2-40B4-BE49-F238E27FC236}">
                <a16:creationId xmlns:a16="http://schemas.microsoft.com/office/drawing/2014/main" id="{088522B8-A0BE-FA0D-7F1A-91B1CDAF30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4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87465" y="2354580"/>
            <a:ext cx="7181491" cy="51435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9C24E-F38D-423A-A866-B0C141104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ru-RU" dirty="0"/>
              <a:t>Проверка на подлинность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009629-C1DE-E641-85FF-14D53F07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475" y="1253331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	Подлинность сертификата обеспечивается связкой </a:t>
            </a:r>
            <a:r>
              <a:rPr lang="ru-RU" b="1" dirty="0"/>
              <a:t>открытого ключа</a:t>
            </a:r>
            <a:r>
              <a:rPr lang="ru-RU" dirty="0"/>
              <a:t>, который содержится в сертификате и </a:t>
            </a:r>
            <a:r>
              <a:rPr lang="ru-RU" b="1" dirty="0"/>
              <a:t>закрытого ключа</a:t>
            </a:r>
            <a:r>
              <a:rPr lang="ru-RU" dirty="0"/>
              <a:t>, который есть только у владельца сертификата. Открытый ключ является результатом применения некой функции </a:t>
            </a:r>
            <a:r>
              <a:rPr lang="en-US" dirty="0"/>
              <a:t>f</a:t>
            </a:r>
            <a:r>
              <a:rPr lang="ru-RU" dirty="0"/>
              <a:t>(</a:t>
            </a:r>
            <a:r>
              <a:rPr lang="en-US" dirty="0"/>
              <a:t>x</a:t>
            </a:r>
            <a:r>
              <a:rPr lang="ru-RU" dirty="0"/>
              <a:t>), где </a:t>
            </a:r>
            <a:r>
              <a:rPr lang="en-US" dirty="0"/>
              <a:t>x </a:t>
            </a:r>
            <a:r>
              <a:rPr lang="ru-RU" dirty="0"/>
              <a:t>это </a:t>
            </a:r>
            <a:r>
              <a:rPr lang="ru-RU" b="1" dirty="0"/>
              <a:t>закрытый ключ</a:t>
            </a:r>
            <a:r>
              <a:rPr lang="ru-RU" dirty="0"/>
              <a:t>. При проверке передаваемого </a:t>
            </a:r>
            <a:r>
              <a:rPr lang="ru-RU" b="1" dirty="0"/>
              <a:t>открытого ключа </a:t>
            </a:r>
            <a:r>
              <a:rPr lang="ru-RU" dirty="0"/>
              <a:t>система снова при помощи этой функции вычисляет </a:t>
            </a:r>
            <a:r>
              <a:rPr lang="ru-RU" b="1" dirty="0"/>
              <a:t>открытый ключ </a:t>
            </a:r>
            <a:r>
              <a:rPr lang="ru-RU" dirty="0"/>
              <a:t>и сравнивает с переданным ей.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641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64F8-240C-8243-99B2-634186A61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63BCF608-4F23-1A6D-F75F-0EA714C323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" t="16456" r="745" b="1334"/>
          <a:stretch>
            <a:fillRect/>
          </a:stretch>
        </p:blipFill>
        <p:spPr>
          <a:xfrm>
            <a:off x="85725" y="990600"/>
            <a:ext cx="12111943" cy="5437980"/>
          </a:xfrm>
          <a:prstGeom prst="rect">
            <a:avLst/>
          </a:prstGeom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96A6FA3-3D03-89B0-DF66-3947745F9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ru-RU" dirty="0"/>
              <a:t>Проверка на подлинность</a:t>
            </a:r>
          </a:p>
        </p:txBody>
      </p:sp>
    </p:spTree>
    <p:extLst>
      <p:ext uri="{BB962C8B-B14F-4D97-AF65-F5344CB8AC3E}">
        <p14:creationId xmlns:p14="http://schemas.microsoft.com/office/powerpoint/2010/main" val="1287968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18E40-050E-ACA8-DBB0-77A9393C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4C0A727-6741-6C90-A23F-1EFC92538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175" y="109220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AAAAB</a:t>
            </a:r>
            <a:r>
              <a:rPr lang="ru-RU" sz="1400" dirty="0"/>
              <a:t>3</a:t>
            </a:r>
            <a:r>
              <a:rPr lang="en-US" sz="1400" dirty="0" err="1"/>
              <a:t>NzaC</a:t>
            </a:r>
            <a:r>
              <a:rPr lang="ru-RU" sz="1400" dirty="0"/>
              <a:t>1</a:t>
            </a:r>
            <a:r>
              <a:rPr lang="en-US" sz="1400" dirty="0" err="1"/>
              <a:t>yc</a:t>
            </a:r>
            <a:r>
              <a:rPr lang="ru-RU" sz="1400" dirty="0"/>
              <a:t>2</a:t>
            </a:r>
            <a:r>
              <a:rPr lang="en-US" sz="1400" dirty="0" err="1"/>
              <a:t>EAAAADAQABAAACAQDzBooE</a:t>
            </a:r>
            <a:r>
              <a:rPr lang="ru-RU" sz="1400" dirty="0"/>
              <a:t>4</a:t>
            </a:r>
            <a:r>
              <a:rPr lang="en-US" sz="1400" dirty="0"/>
              <a:t>JO</a:t>
            </a:r>
            <a:r>
              <a:rPr lang="ru-RU" sz="1400" dirty="0"/>
              <a:t>93</a:t>
            </a:r>
            <a:r>
              <a:rPr lang="en-US" sz="1400" dirty="0" err="1"/>
              <a:t>SCh</a:t>
            </a:r>
            <a:r>
              <a:rPr lang="ru-RU" sz="1400" dirty="0"/>
              <a:t>5</a:t>
            </a:r>
            <a:r>
              <a:rPr lang="en-US" sz="1400" dirty="0"/>
              <a:t>BL</a:t>
            </a:r>
            <a:r>
              <a:rPr lang="ru-RU" sz="1400" dirty="0"/>
              <a:t>9</a:t>
            </a:r>
            <a:r>
              <a:rPr lang="en-US" sz="1400" dirty="0" err="1"/>
              <a:t>yJRX</a:t>
            </a:r>
            <a:r>
              <a:rPr lang="ru-RU" sz="1400" dirty="0"/>
              <a:t>8</a:t>
            </a:r>
            <a:r>
              <a:rPr lang="en-US" sz="1400" dirty="0"/>
              <a:t>Bn</a:t>
            </a:r>
            <a:r>
              <a:rPr lang="ru-RU" sz="1400" dirty="0"/>
              <a:t>8</a:t>
            </a:r>
            <a:r>
              <a:rPr lang="en-US" sz="1400" dirty="0" err="1"/>
              <a:t>uMuvd</a:t>
            </a:r>
            <a:r>
              <a:rPr lang="ru-RU" sz="1400" dirty="0"/>
              <a:t>21</a:t>
            </a:r>
            <a:r>
              <a:rPr lang="en-US" sz="1400" dirty="0" err="1"/>
              <a:t>ufw</a:t>
            </a:r>
            <a:r>
              <a:rPr lang="ru-RU" sz="1400" dirty="0"/>
              <a:t>+</a:t>
            </a:r>
            <a:r>
              <a:rPr lang="en-US" sz="1400" dirty="0" err="1"/>
              <a:t>oRmXNuf</a:t>
            </a:r>
            <a:r>
              <a:rPr lang="ru-RU" sz="1400" dirty="0"/>
              <a:t>1</a:t>
            </a:r>
            <a:r>
              <a:rPr lang="en-US" sz="1400" dirty="0"/>
              <a:t>Bp</a:t>
            </a:r>
            <a:r>
              <a:rPr lang="ru-RU" sz="1400" dirty="0"/>
              <a:t>4</a:t>
            </a:r>
            <a:r>
              <a:rPr lang="en-US" sz="1400" dirty="0" err="1"/>
              <a:t>cZEQxrbAW</a:t>
            </a:r>
            <a:r>
              <a:rPr lang="ru-RU" sz="1400" dirty="0"/>
              <a:t>0</a:t>
            </a:r>
            <a:r>
              <a:rPr lang="en-US" sz="1400" dirty="0" err="1"/>
              <a:t>uZHpNKt</a:t>
            </a:r>
            <a:r>
              <a:rPr lang="ru-RU" sz="1400" dirty="0"/>
              <a:t>/</a:t>
            </a:r>
            <a:r>
              <a:rPr lang="en-US" sz="1400" dirty="0" err="1"/>
              <a:t>yU</a:t>
            </a:r>
            <a:r>
              <a:rPr lang="ru-RU" sz="1400" dirty="0"/>
              <a:t>18</a:t>
            </a:r>
            <a:r>
              <a:rPr lang="en-US" sz="1400" dirty="0"/>
              <a:t>OGJAT</a:t>
            </a:r>
            <a:r>
              <a:rPr lang="ru-RU" sz="1400" dirty="0"/>
              <a:t>/+</a:t>
            </a:r>
            <a:r>
              <a:rPr lang="en-US" sz="1400" dirty="0" err="1"/>
              <a:t>Fg</a:t>
            </a:r>
            <a:r>
              <a:rPr lang="ru-RU" sz="1400" dirty="0"/>
              <a:t>8</a:t>
            </a:r>
            <a:r>
              <a:rPr lang="en-US" sz="1400" dirty="0" err="1"/>
              <a:t>lzSF</a:t>
            </a:r>
            <a:r>
              <a:rPr lang="ru-RU" sz="1400" dirty="0"/>
              <a:t>1</a:t>
            </a:r>
            <a:r>
              <a:rPr lang="en-US" sz="1400" dirty="0" err="1"/>
              <a:t>bPxt</a:t>
            </a:r>
            <a:r>
              <a:rPr lang="ru-RU" sz="1400" dirty="0"/>
              <a:t>4</a:t>
            </a:r>
            <a:r>
              <a:rPr lang="en-US" sz="1400" dirty="0" err="1"/>
              <a:t>VtrzipRWxmbm</a:t>
            </a:r>
            <a:r>
              <a:rPr lang="ru-RU" sz="1400" dirty="0"/>
              <a:t>3</a:t>
            </a:r>
            <a:r>
              <a:rPr lang="en-US" sz="1400" dirty="0" err="1"/>
              <a:t>xg</a:t>
            </a:r>
            <a:r>
              <a:rPr lang="ru-RU" sz="1400" dirty="0"/>
              <a:t>4</a:t>
            </a:r>
            <a:r>
              <a:rPr lang="en-US" sz="1400" dirty="0"/>
              <a:t>u</a:t>
            </a:r>
            <a:r>
              <a:rPr lang="ru-RU" sz="1400" dirty="0"/>
              <a:t>6</a:t>
            </a:r>
            <a:r>
              <a:rPr lang="en-US" sz="1400" dirty="0" err="1"/>
              <a:t>UUPx</a:t>
            </a:r>
            <a:r>
              <a:rPr lang="ru-RU" sz="1400" dirty="0"/>
              <a:t>8</a:t>
            </a:r>
            <a:r>
              <a:rPr lang="en-US" sz="1400" dirty="0"/>
              <a:t>o</a:t>
            </a:r>
            <a:r>
              <a:rPr lang="ru-RU" sz="1400" dirty="0"/>
              <a:t>4</a:t>
            </a:r>
            <a:r>
              <a:rPr lang="en-US" sz="1400" dirty="0"/>
              <a:t>Fe</a:t>
            </a:r>
            <a:r>
              <a:rPr lang="ru-RU" sz="1400" dirty="0"/>
              <a:t>7</a:t>
            </a:r>
            <a:r>
              <a:rPr lang="en-US" sz="1400" dirty="0" err="1"/>
              <a:t>sBvw</a:t>
            </a:r>
            <a:r>
              <a:rPr lang="ru-RU" sz="1400" dirty="0"/>
              <a:t>5</a:t>
            </a:r>
            <a:r>
              <a:rPr lang="en-US" sz="1400" dirty="0" err="1"/>
              <a:t>WytgBzWibT</a:t>
            </a:r>
            <a:r>
              <a:rPr lang="ru-RU" sz="1400" dirty="0"/>
              <a:t>8</a:t>
            </a:r>
            <a:r>
              <a:rPr lang="en-US" sz="1400" dirty="0"/>
              <a:t>p</a:t>
            </a:r>
            <a:r>
              <a:rPr lang="ru-RU" sz="1400" dirty="0"/>
              <a:t>/4997</a:t>
            </a:r>
            <a:r>
              <a:rPr lang="en-US" sz="1400" dirty="0"/>
              <a:t>a</a:t>
            </a:r>
            <a:r>
              <a:rPr lang="ru-RU" sz="1400" dirty="0"/>
              <a:t>39</a:t>
            </a:r>
            <a:r>
              <a:rPr lang="en-US" sz="1400" dirty="0" err="1"/>
              <a:t>df</a:t>
            </a:r>
            <a:r>
              <a:rPr lang="ru-RU" sz="1400" dirty="0"/>
              <a:t>3</a:t>
            </a:r>
            <a:r>
              <a:rPr lang="en-US" sz="1400" dirty="0"/>
              <a:t>ZEI</a:t>
            </a:r>
            <a:r>
              <a:rPr lang="ru-RU" sz="1400" dirty="0"/>
              <a:t>1</a:t>
            </a:r>
            <a:r>
              <a:rPr lang="en-US" sz="1400" dirty="0"/>
              <a:t>U</a:t>
            </a:r>
            <a:r>
              <a:rPr lang="ru-RU" sz="1400" dirty="0"/>
              <a:t>7</a:t>
            </a:r>
            <a:r>
              <a:rPr lang="en-US" sz="1400" dirty="0" err="1"/>
              <a:t>AmNjrhVAbm</a:t>
            </a:r>
            <a:r>
              <a:rPr lang="ru-RU" sz="1400" dirty="0"/>
              <a:t>9</a:t>
            </a:r>
            <a:r>
              <a:rPr lang="en-US" sz="1400" dirty="0"/>
              <a:t>p</a:t>
            </a:r>
            <a:r>
              <a:rPr lang="ru-RU" sz="1400" dirty="0"/>
              <a:t>3</a:t>
            </a:r>
            <a:r>
              <a:rPr lang="en-US" sz="1400" dirty="0" err="1"/>
              <a:t>ZGhx</a:t>
            </a:r>
            <a:r>
              <a:rPr lang="ru-RU" sz="1400" dirty="0"/>
              <a:t>9</a:t>
            </a:r>
            <a:r>
              <a:rPr lang="en-US" sz="1400" dirty="0" err="1"/>
              <a:t>PdCblhoIUt</a:t>
            </a:r>
            <a:r>
              <a:rPr lang="ru-RU" sz="1400" dirty="0"/>
              <a:t>2</a:t>
            </a:r>
            <a:r>
              <a:rPr lang="en-US" sz="1400" dirty="0" err="1"/>
              <a:t>WpMYiHsE</a:t>
            </a:r>
            <a:r>
              <a:rPr lang="ru-RU" sz="1400" dirty="0"/>
              <a:t>4</a:t>
            </a:r>
            <a:r>
              <a:rPr lang="en-US" sz="1400" dirty="0" err="1"/>
              <a:t>MGhR</a:t>
            </a:r>
            <a:r>
              <a:rPr lang="ru-RU" sz="1400" dirty="0"/>
              <a:t>3</a:t>
            </a:r>
            <a:r>
              <a:rPr lang="en-US" sz="1400" dirty="0" err="1"/>
              <a:t>GgEoh</a:t>
            </a:r>
            <a:r>
              <a:rPr lang="ru-RU" sz="1400" dirty="0"/>
              <a:t>8</a:t>
            </a:r>
            <a:r>
              <a:rPr lang="en-US" sz="1400" dirty="0"/>
              <a:t>T</a:t>
            </a:r>
            <a:r>
              <a:rPr lang="ru-RU" sz="1400" dirty="0"/>
              <a:t>8</a:t>
            </a:r>
            <a:r>
              <a:rPr lang="en-US" sz="1400" dirty="0" err="1"/>
              <a:t>fucJTjgt</a:t>
            </a:r>
            <a:r>
              <a:rPr lang="ru-RU" sz="1400" dirty="0"/>
              <a:t>/</a:t>
            </a:r>
            <a:r>
              <a:rPr lang="en-US" sz="1400" dirty="0" err="1"/>
              <a:t>LeonQ</a:t>
            </a:r>
            <a:r>
              <a:rPr lang="ru-RU" sz="1400" dirty="0"/>
              <a:t>9</a:t>
            </a:r>
            <a:r>
              <a:rPr lang="en-US" sz="1400" dirty="0" err="1"/>
              <a:t>bZGQwKo</a:t>
            </a:r>
            <a:r>
              <a:rPr lang="ru-RU" sz="1400" dirty="0"/>
              <a:t>7</a:t>
            </a:r>
            <a:r>
              <a:rPr lang="en-US" sz="1400" dirty="0" err="1"/>
              <a:t>WAc</a:t>
            </a:r>
            <a:r>
              <a:rPr lang="ru-RU" sz="1400" dirty="0"/>
              <a:t>0</a:t>
            </a:r>
            <a:r>
              <a:rPr lang="en-US" sz="1400" dirty="0" err="1"/>
              <a:t>DXoyLJzrl</a:t>
            </a:r>
            <a:r>
              <a:rPr lang="ru-RU" sz="1400" dirty="0"/>
              <a:t>5</a:t>
            </a:r>
            <a:r>
              <a:rPr lang="en-US" sz="1400" dirty="0"/>
              <a:t>s</a:t>
            </a:r>
            <a:r>
              <a:rPr lang="ru-RU" sz="1400" dirty="0"/>
              <a:t>+</a:t>
            </a:r>
            <a:r>
              <a:rPr lang="en-US" sz="1400" dirty="0" err="1"/>
              <a:t>GwHqlhvO</a:t>
            </a:r>
            <a:r>
              <a:rPr lang="ru-RU" sz="1400" dirty="0"/>
              <a:t>0</a:t>
            </a:r>
            <a:r>
              <a:rPr lang="en-US" sz="1400" dirty="0" err="1"/>
              <a:t>hFK</a:t>
            </a:r>
            <a:r>
              <a:rPr lang="ru-RU" sz="1400" dirty="0"/>
              <a:t>4</a:t>
            </a:r>
            <a:r>
              <a:rPr lang="en-US" sz="1400" dirty="0"/>
              <a:t>g</a:t>
            </a:r>
            <a:r>
              <a:rPr lang="ru-RU" sz="1400" dirty="0"/>
              <a:t>1</a:t>
            </a:r>
            <a:r>
              <a:rPr lang="en-US" sz="1400" dirty="0"/>
              <a:t>L</a:t>
            </a:r>
            <a:r>
              <a:rPr lang="ru-RU" sz="1400" dirty="0"/>
              <a:t>3</a:t>
            </a:r>
            <a:r>
              <a:rPr lang="en-US" sz="1400" dirty="0" err="1"/>
              <a:t>TjpGpmVQSdeleQg</a:t>
            </a:r>
            <a:r>
              <a:rPr lang="ru-RU" sz="1400" dirty="0"/>
              <a:t>/</a:t>
            </a:r>
            <a:r>
              <a:rPr lang="en-US" sz="1400" dirty="0" err="1"/>
              <a:t>srZJwW</a:t>
            </a:r>
            <a:r>
              <a:rPr lang="ru-RU" sz="1400" dirty="0"/>
              <a:t>3</a:t>
            </a:r>
            <a:r>
              <a:rPr lang="en-US" sz="1400" dirty="0" err="1"/>
              <a:t>hq</a:t>
            </a:r>
            <a:r>
              <a:rPr lang="ru-RU" sz="1400" dirty="0"/>
              <a:t>8</a:t>
            </a:r>
            <a:r>
              <a:rPr lang="en-US" sz="1400" dirty="0" err="1"/>
              <a:t>OpQ</a:t>
            </a:r>
            <a:r>
              <a:rPr lang="ru-RU" sz="1400" dirty="0"/>
              <a:t>9</a:t>
            </a:r>
            <a:r>
              <a:rPr lang="en-US" sz="1400" dirty="0"/>
              <a:t>w</a:t>
            </a:r>
            <a:r>
              <a:rPr lang="ru-RU" sz="1400" dirty="0"/>
              <a:t>0</a:t>
            </a:r>
            <a:r>
              <a:rPr lang="en-US" sz="1400" dirty="0" err="1"/>
              <a:t>EoODMXuNnRg</a:t>
            </a:r>
            <a:r>
              <a:rPr lang="ru-RU" sz="1400" dirty="0"/>
              <a:t>3</a:t>
            </a:r>
            <a:r>
              <a:rPr lang="en-US" sz="1400" dirty="0" err="1"/>
              <a:t>Pn</a:t>
            </a:r>
            <a:r>
              <a:rPr lang="ru-RU" sz="1400" dirty="0"/>
              <a:t>4</a:t>
            </a:r>
            <a:r>
              <a:rPr lang="en-US" sz="1400" dirty="0"/>
              <a:t>X</a:t>
            </a:r>
            <a:r>
              <a:rPr lang="ru-RU" sz="1400" dirty="0"/>
              <a:t>1</a:t>
            </a:r>
            <a:r>
              <a:rPr lang="en-US" sz="1400" dirty="0" err="1"/>
              <a:t>jyTV</a:t>
            </a:r>
            <a:r>
              <a:rPr lang="ru-RU" sz="1400" dirty="0"/>
              <a:t>44</a:t>
            </a:r>
            <a:r>
              <a:rPr lang="en-US" sz="1400" dirty="0"/>
              <a:t>DP</a:t>
            </a:r>
            <a:r>
              <a:rPr lang="ru-RU" sz="1400" dirty="0"/>
              <a:t>6</a:t>
            </a:r>
            <a:r>
              <a:rPr lang="en-US" sz="1400" dirty="0"/>
              <a:t>m</a:t>
            </a:r>
            <a:r>
              <a:rPr lang="ru-RU" sz="1400" dirty="0"/>
              <a:t>3</a:t>
            </a:r>
            <a:r>
              <a:rPr lang="en-US" sz="1400" dirty="0" err="1"/>
              <a:t>yCdWksD</a:t>
            </a:r>
            <a:r>
              <a:rPr lang="ru-RU" sz="1400" dirty="0"/>
              <a:t>4</a:t>
            </a:r>
            <a:r>
              <a:rPr lang="en-US" sz="1400" dirty="0" err="1"/>
              <a:t>bav</a:t>
            </a:r>
            <a:r>
              <a:rPr lang="ru-RU" sz="1400" dirty="0"/>
              <a:t>86</a:t>
            </a:r>
            <a:r>
              <a:rPr lang="en-US" sz="1400" dirty="0" err="1"/>
              <a:t>KHEZud</a:t>
            </a:r>
            <a:r>
              <a:rPr lang="ru-RU" sz="1400" dirty="0"/>
              <a:t>43</a:t>
            </a:r>
            <a:r>
              <a:rPr lang="en-US" sz="1400" dirty="0"/>
              <a:t>K</a:t>
            </a:r>
            <a:r>
              <a:rPr lang="ru-RU" sz="1400" dirty="0"/>
              <a:t>8</a:t>
            </a:r>
            <a:r>
              <a:rPr lang="en-US" sz="1400" dirty="0"/>
              <a:t>Og</a:t>
            </a:r>
            <a:r>
              <a:rPr lang="ru-RU" sz="1400" dirty="0"/>
              <a:t>0</a:t>
            </a:r>
            <a:r>
              <a:rPr lang="en-US" sz="1400" dirty="0" err="1"/>
              <a:t>pZcTluGNmumxi</a:t>
            </a:r>
            <a:r>
              <a:rPr lang="ru-RU" sz="1400" dirty="0"/>
              <a:t>2</a:t>
            </a:r>
            <a:r>
              <a:rPr lang="en-US" sz="1400" dirty="0" err="1"/>
              <a:t>PJECsPTxt</a:t>
            </a:r>
            <a:r>
              <a:rPr lang="ru-RU" sz="1400" dirty="0"/>
              <a:t>/3</a:t>
            </a:r>
            <a:r>
              <a:rPr lang="en-US" sz="1400" dirty="0" err="1"/>
              <a:t>okYcQH</a:t>
            </a:r>
            <a:r>
              <a:rPr lang="ru-RU" sz="1400" dirty="0"/>
              <a:t>/</a:t>
            </a:r>
            <a:r>
              <a:rPr lang="en-US" sz="1400" dirty="0" err="1"/>
              <a:t>xhEG</a:t>
            </a:r>
            <a:r>
              <a:rPr lang="ru-RU" sz="1400" dirty="0"/>
              <a:t>3</a:t>
            </a:r>
            <a:r>
              <a:rPr lang="en-US" sz="1400" dirty="0"/>
              <a:t>o</a:t>
            </a:r>
            <a:r>
              <a:rPr lang="ru-RU" sz="1400" dirty="0"/>
              <a:t>/9</a:t>
            </a:r>
            <a:r>
              <a:rPr lang="en-US" sz="1400" dirty="0" err="1"/>
              <a:t>yODBUZGk</a:t>
            </a:r>
            <a:r>
              <a:rPr lang="ru-RU" sz="1400" dirty="0"/>
              <a:t>/</a:t>
            </a:r>
            <a:r>
              <a:rPr lang="en-US" sz="1400" dirty="0" err="1"/>
              <a:t>GTBleIUgsOunswDt</a:t>
            </a:r>
            <a:r>
              <a:rPr lang="ru-RU" sz="1400" dirty="0"/>
              <a:t>4</a:t>
            </a:r>
            <a:r>
              <a:rPr lang="en-US" sz="1400" dirty="0"/>
              <a:t>a</a:t>
            </a:r>
            <a:r>
              <a:rPr lang="ru-RU" sz="1400" dirty="0"/>
              <a:t>7</a:t>
            </a:r>
            <a:r>
              <a:rPr lang="en-US" sz="1400" dirty="0"/>
              <a:t>f</a:t>
            </a:r>
            <a:r>
              <a:rPr lang="ru-RU" sz="1400" dirty="0"/>
              <a:t>90</a:t>
            </a:r>
            <a:r>
              <a:rPr lang="en-US" sz="1400" dirty="0" err="1"/>
              <a:t>IhXxgHqpbLDn</a:t>
            </a:r>
            <a:r>
              <a:rPr lang="ru-RU" sz="1400" dirty="0"/>
              <a:t>4</a:t>
            </a:r>
            <a:r>
              <a:rPr lang="en-US" sz="1400" dirty="0" err="1"/>
              <a:t>jeeHPu</a:t>
            </a:r>
            <a:r>
              <a:rPr lang="ru-RU" sz="1400" dirty="0"/>
              <a:t>6</a:t>
            </a:r>
            <a:r>
              <a:rPr lang="en-US" sz="1400" dirty="0" err="1"/>
              <a:t>Dhft</a:t>
            </a:r>
            <a:r>
              <a:rPr lang="ru-RU" sz="1400" dirty="0"/>
              <a:t>41</a:t>
            </a:r>
            <a:r>
              <a:rPr lang="en-US" sz="1400" dirty="0" err="1"/>
              <a:t>JrUsLpQ</a:t>
            </a:r>
            <a:r>
              <a:rPr lang="ru-RU" sz="1400" dirty="0"/>
              <a:t>2</a:t>
            </a:r>
            <a:r>
              <a:rPr lang="en-US" sz="1400" dirty="0"/>
              <a:t>o</a:t>
            </a:r>
            <a:r>
              <a:rPr lang="ru-RU" sz="1400" dirty="0"/>
              <a:t>4</a:t>
            </a:r>
            <a:r>
              <a:rPr lang="en-US" sz="1400" dirty="0" err="1"/>
              <a:t>xQVVuHQkKpJkC</a:t>
            </a:r>
            <a:r>
              <a:rPr lang="ru-RU" sz="1400" dirty="0"/>
              <a:t>0</a:t>
            </a:r>
            <a:r>
              <a:rPr lang="en-US" sz="1400" dirty="0" err="1"/>
              <a:t>dgViB</a:t>
            </a:r>
            <a:r>
              <a:rPr lang="ru-RU" sz="1400" dirty="0"/>
              <a:t>7</a:t>
            </a:r>
            <a:r>
              <a:rPr lang="en-US" sz="1400" dirty="0" err="1"/>
              <a:t>eWJJe</a:t>
            </a:r>
            <a:r>
              <a:rPr lang="ru-RU" sz="1400" dirty="0"/>
              <a:t>/</a:t>
            </a:r>
            <a:r>
              <a:rPr lang="en-US" sz="1400" dirty="0" err="1"/>
              <a:t>sT</a:t>
            </a:r>
            <a:r>
              <a:rPr lang="ru-RU" sz="1400" dirty="0"/>
              <a:t>7</a:t>
            </a:r>
            <a:r>
              <a:rPr lang="en-US" sz="1400" dirty="0" err="1"/>
              <a:t>OyN</a:t>
            </a:r>
            <a:r>
              <a:rPr lang="ru-RU" sz="1400" dirty="0"/>
              <a:t>8</a:t>
            </a:r>
            <a:r>
              <a:rPr lang="en-US" sz="1400" dirty="0" err="1"/>
              <a:t>uguMKLkq</a:t>
            </a:r>
            <a:r>
              <a:rPr lang="ru-RU" sz="1400" dirty="0"/>
              <a:t>9</a:t>
            </a:r>
            <a:r>
              <a:rPr lang="en-US" sz="1400" dirty="0" err="1"/>
              <a:t>YOjJ</a:t>
            </a:r>
            <a:r>
              <a:rPr lang="ru-RU" sz="1400" dirty="0"/>
              <a:t>/</a:t>
            </a:r>
            <a:r>
              <a:rPr lang="en-US" sz="1400" dirty="0" err="1"/>
              <a:t>ICn</a:t>
            </a:r>
            <a:r>
              <a:rPr lang="ru-RU" sz="1400" dirty="0"/>
              <a:t>57</a:t>
            </a:r>
            <a:r>
              <a:rPr lang="en-US" sz="1400" dirty="0" err="1"/>
              <a:t>hHUkkgUQIjHASWzS</a:t>
            </a:r>
            <a:r>
              <a:rPr lang="ru-RU" sz="1400" dirty="0"/>
              <a:t>2</a:t>
            </a:r>
            <a:r>
              <a:rPr lang="en-US" sz="1400" dirty="0" err="1"/>
              <a:t>knXNPTXWcL</a:t>
            </a:r>
            <a:r>
              <a:rPr lang="ru-RU" sz="1400" dirty="0"/>
              <a:t>+</a:t>
            </a:r>
            <a:r>
              <a:rPr lang="en-US" sz="1400" dirty="0" err="1"/>
              <a:t>hNujBsRVbybJ</a:t>
            </a:r>
            <a:r>
              <a:rPr lang="ru-RU" sz="1400" dirty="0"/>
              <a:t>/</a:t>
            </a:r>
            <a:r>
              <a:rPr lang="en-US" sz="1400" dirty="0"/>
              <a:t>r</a:t>
            </a:r>
            <a:r>
              <a:rPr lang="ru-RU" sz="1400" dirty="0"/>
              <a:t>81</a:t>
            </a:r>
            <a:r>
              <a:rPr lang="en-US" sz="1400" dirty="0"/>
              <a:t>fs</a:t>
            </a:r>
            <a:r>
              <a:rPr lang="ru-RU" sz="1400" dirty="0"/>
              <a:t>3</a:t>
            </a:r>
            <a:r>
              <a:rPr lang="en-US" sz="1400" dirty="0" err="1"/>
              <a:t>gJ</a:t>
            </a:r>
            <a:r>
              <a:rPr lang="ru-RU" sz="1400" dirty="0"/>
              <a:t>5</a:t>
            </a:r>
            <a:r>
              <a:rPr lang="en-US" sz="1400" dirty="0" err="1"/>
              <a:t>csW</a:t>
            </a:r>
            <a:r>
              <a:rPr lang="ru-RU" sz="1400" dirty="0"/>
              <a:t>0</a:t>
            </a:r>
            <a:r>
              <a:rPr lang="en-US" sz="1400" dirty="0" err="1"/>
              <a:t>arvwQPf</a:t>
            </a:r>
            <a:r>
              <a:rPr lang="ru-RU" sz="1400" dirty="0"/>
              <a:t>4</a:t>
            </a:r>
            <a:r>
              <a:rPr lang="en-US" sz="1400" dirty="0"/>
              <a:t>DzDg</a:t>
            </a:r>
            <a:r>
              <a:rPr lang="ru-RU" sz="1400" dirty="0"/>
              <a:t>+</a:t>
            </a:r>
            <a:r>
              <a:rPr lang="en-US" sz="1400" dirty="0" err="1"/>
              <a:t>gjRtfbeXG</a:t>
            </a:r>
            <a:r>
              <a:rPr lang="ru-RU" sz="1400" dirty="0"/>
              <a:t>2</a:t>
            </a:r>
            <a:r>
              <a:rPr lang="en-US" sz="1400" dirty="0"/>
              <a:t>h</a:t>
            </a:r>
            <a:r>
              <a:rPr lang="ru-RU" sz="1400" dirty="0"/>
              <a:t>3</a:t>
            </a:r>
            <a:r>
              <a:rPr lang="en-US" sz="1400" dirty="0"/>
              <a:t>S</a:t>
            </a:r>
            <a:r>
              <a:rPr lang="ru-RU" sz="1400" dirty="0"/>
              <a:t>/</a:t>
            </a:r>
            <a:r>
              <a:rPr lang="en-US" sz="1400" dirty="0" err="1"/>
              <a:t>gw</a:t>
            </a:r>
            <a:r>
              <a:rPr lang="ru-RU" sz="1400" dirty="0"/>
              <a:t>8</a:t>
            </a:r>
            <a:r>
              <a:rPr lang="en-US" sz="1400" dirty="0"/>
              <a:t>S</a:t>
            </a:r>
            <a:r>
              <a:rPr lang="ru-RU" sz="1400" dirty="0"/>
              <a:t>0</a:t>
            </a:r>
            <a:r>
              <a:rPr lang="en-US" sz="1400" dirty="0" err="1"/>
              <a:t>BExLzDQv</a:t>
            </a:r>
            <a:r>
              <a:rPr lang="ru-RU" sz="1400" dirty="0"/>
              <a:t>4</a:t>
            </a:r>
            <a:r>
              <a:rPr lang="en-US" sz="1400" dirty="0" err="1"/>
              <a:t>Js</a:t>
            </a:r>
            <a:r>
              <a:rPr lang="ru-RU" sz="1400" dirty="0"/>
              <a:t>671</a:t>
            </a:r>
            <a:r>
              <a:rPr lang="en-US" sz="1400" dirty="0" err="1"/>
              <a:t>WkpoEcRGVRJ</a:t>
            </a:r>
            <a:r>
              <a:rPr lang="ru-RU" sz="1400" dirty="0"/>
              <a:t>4</a:t>
            </a:r>
            <a:r>
              <a:rPr lang="en-US" sz="1400" dirty="0"/>
              <a:t>W</a:t>
            </a:r>
            <a:r>
              <a:rPr lang="ru-RU" sz="1400" dirty="0"/>
              <a:t>823</a:t>
            </a:r>
            <a:r>
              <a:rPr lang="en-US" sz="1400" dirty="0" err="1"/>
              <a:t>zf</a:t>
            </a:r>
            <a:r>
              <a:rPr lang="ru-RU" sz="1400" dirty="0"/>
              <a:t>5</a:t>
            </a:r>
            <a:r>
              <a:rPr lang="en-US" sz="1400" dirty="0" err="1"/>
              <a:t>i</a:t>
            </a:r>
            <a:r>
              <a:rPr lang="ru-RU" sz="1400" dirty="0"/>
              <a:t>69</a:t>
            </a:r>
            <a:r>
              <a:rPr lang="en-US" sz="1400" dirty="0" err="1"/>
              <a:t>WjFvdVyLLukAdq</a:t>
            </a:r>
            <a:r>
              <a:rPr lang="ru-RU" sz="1400" dirty="0"/>
              <a:t>8</a:t>
            </a:r>
            <a:r>
              <a:rPr lang="en-US" sz="1400" dirty="0"/>
              <a:t>UX</a:t>
            </a:r>
            <a:r>
              <a:rPr lang="ru-RU" sz="1400" dirty="0"/>
              <a:t>7</a:t>
            </a:r>
            <a:r>
              <a:rPr lang="en-US" sz="1400" dirty="0" err="1"/>
              <a:t>Eizm</a:t>
            </a:r>
            <a:r>
              <a:rPr lang="ru-RU" sz="1400" dirty="0"/>
              <a:t>9</a:t>
            </a:r>
            <a:r>
              <a:rPr lang="en-US" sz="1400" dirty="0" err="1"/>
              <a:t>BpFYgCSQ</a:t>
            </a:r>
            <a:r>
              <a:rPr lang="ru-RU" sz="1400" dirty="0"/>
              <a:t>0</a:t>
            </a:r>
            <a:r>
              <a:rPr lang="en-US" sz="1400" dirty="0" err="1"/>
              <a:t>ajzQCn</a:t>
            </a:r>
            <a:r>
              <a:rPr lang="ru-RU" sz="1400" dirty="0"/>
              <a:t>29+</a:t>
            </a:r>
            <a:r>
              <a:rPr lang="en-US" sz="1400" dirty="0" err="1"/>
              <a:t>zQy</a:t>
            </a:r>
            <a:r>
              <a:rPr lang="ru-RU" sz="1400" dirty="0"/>
              <a:t>5</a:t>
            </a:r>
            <a:r>
              <a:rPr lang="en-US" sz="1400" dirty="0" err="1"/>
              <a:t>wKAvUUNWkRbuw</a:t>
            </a:r>
            <a:r>
              <a:rPr lang="ru-RU" sz="1400" dirty="0"/>
              <a:t>==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C889698-C253-DE36-AC0E-25140515331A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Пример открытого ключа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114C0F-CC83-EA98-B17B-DAA11D1DF2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29600" y="2969895"/>
            <a:ext cx="3962399" cy="388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73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236DC-3B6F-AC5B-F118-CAC700C2C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86258BB-77E9-441C-DD05-7C155EAF4D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210746" y="2951394"/>
            <a:ext cx="3981253" cy="3906605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38A04F4F-0C25-1922-38E1-A56D6B34B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268" y="1025524"/>
            <a:ext cx="12021532" cy="572406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400" dirty="0"/>
              <a:t>-----BEGIN OPENSSH PRIVATE KEY-----</a:t>
            </a:r>
            <a:br>
              <a:rPr lang="ru-RU" sz="1400" dirty="0"/>
            </a:br>
            <a:r>
              <a:rPr lang="ru-RU" sz="1400" dirty="0"/>
              <a:t>b3BlbnNzaC1rZXktdjEAAAAABG5vbmUAAAAEbm9uZQAAAAAAAAABAAACFwAAAAdzc2gtcnNhAAAAAwEAAQAAAgEA8waKBOCTvd0goeQS/</a:t>
            </a:r>
            <a:r>
              <a:rPr lang="ru-RU" sz="1400" dirty="0" err="1"/>
              <a:t>ciUV</a:t>
            </a:r>
            <a:r>
              <a:rPr lang="ru-RU" sz="1400" dirty="0"/>
              <a:t>/AZ/LjLr3dtbn8PqEZlzbn9QaeHGREMa2wFtLmR6TSrf8lNfDhiQE//hYPJc0hdWz8beFba84qUVsZm5t8YOLulFD8fKOBXu7Ab8OVsrYAc1om0/Kf+Pfe2t/XX92RCNVOwJjY64VQG5vad2RocfT3Qm5YaCFLdlqTGIh7BODBoUdxoBKIfE/H7nCU44Lfy3qJ0PW2RkMCqO1gHNA16Miyc65ebPhsB6pYbztIRSuINS9046RqZlUEnXpXkIP7K2ScFt4avDqUPcNBKDgzF7jZ0YNz5+F9Y8k1eOAz+pt8gnVpLA+G2r/OihxGbneNyvDoNKWXE5bhjZrpsYtjyRArD08bf96JGHEB/8YRBt6P/cjgwVGRpPxkwZXiFILDrp7MA7eGu3/dCIV8YB6qWyw5+I3nhz7ug4X7eNSa1LC6UNqOMUFVbh0JCqSZAtHYFYge3liSXv7E+zsjfLoLjCi5KvWDoyfyAp+e4R1JJIFECIxwEls0tpJ1zT011nC/oTbowbEVW8myf6/NX7N4CeXLFtGq78ED3+A8w4PoI0bX23lxtod0v4MPEtARMS8w0L+CbOu9VpKaBHERlUSeFvNt83+YuvVoxb3Vciy7pAHavFF+xIs5vQaRWIAkkNGo80Ap9vfs0MucCgL1FDVpEW7sAAAdQ8maLdvJmi3YAAAAHc3NoLXJzYQAAAgEA8waKBOCTvd0goeQS/</a:t>
            </a:r>
            <a:r>
              <a:rPr lang="ru-RU" sz="1400" dirty="0" err="1"/>
              <a:t>ciUV</a:t>
            </a:r>
            <a:r>
              <a:rPr lang="ru-RU" sz="1400" dirty="0"/>
              <a:t>/AZ/LjLr3dtbn8PqEZlzbn9QaeHGREMa2wFtLmR6TSrf8lNfDhiQE//hYPJc0hdWz8beFba84qUVsZm5t8YOLulFD8fKOBXu7Ab8OVsrYAc1om0/Kf+Pfe2t/XX92RCNVOwJjY64VQG5vad2RocfT3Qm5YaCFLdlqTGIh7BODBoUdxoBKIfE/H7nCU44Lfy3qJ0PW2RkMCqO1gHNA16Miyc65ebPhsB6pYbztIRSuINS9046RqZlUEnXpXkIP7K2ScFt4avDqUPcNBKDgzF7jZ0YNz5+F9Y8k1eOAz+pt8gnVpLA+G2r/OihxGbneNyvDoNKWXE5bhjZrpsYtjyRArD08bf96JGHEB/8YRBt6P/cjgwVGRpPx</a:t>
            </a:r>
            <a:r>
              <a:rPr lang="ru-RU" sz="1400" dirty="0">
                <a:solidFill>
                  <a:schemeClr val="bg1"/>
                </a:solidFill>
              </a:rPr>
              <a:t>kwZXiFILDrp7MA7eGu3/dCIV8YB6qWyw</a:t>
            </a:r>
            <a:r>
              <a:rPr lang="ru-RU" sz="1400" dirty="0"/>
              <a:t>5+I3nhz7ug4X7eNSa1LC6UNqOMUFVbh0JCqSZAtHYFYge3liSXv7E+zsjfLoLjCi5KvWDoyfyAp+e4R1JJIFECIxwEls0t</a:t>
            </a:r>
            <a:r>
              <a:rPr lang="ru-RU" sz="1400" dirty="0">
                <a:solidFill>
                  <a:schemeClr val="bg1"/>
                </a:solidFill>
              </a:rPr>
              <a:t>pJ1zT011nC/oTbowbEVW8myf6/NX7N4Ce</a:t>
            </a:r>
            <a:r>
              <a:rPr lang="ru-RU" sz="1400" dirty="0"/>
              <a:t>XLFtGq78ED3+A8w4PoI0bX23lxtod0v4MPEtARMS8w0L+CbOu9VpKaBHERlUSeFvNt83+YuvVoxb3Vciy7pAHavFF</a:t>
            </a:r>
            <a:r>
              <a:rPr lang="ru-RU" sz="1400" dirty="0">
                <a:solidFill>
                  <a:schemeClr val="bg1"/>
                </a:solidFill>
              </a:rPr>
              <a:t>+xIs5vQaRWIAkkNGo80Ap9vfs0MucCgL1F</a:t>
            </a:r>
            <a:r>
              <a:rPr lang="ru-RU" sz="1400" dirty="0"/>
              <a:t>DVpEW7sAAAADAQABAAACAFGwOAJtrpuaUZa5QDz4CA0LEuElCKpBXZJPuWaZyyx8wQkpk7q0RVVyaPSXj9kw</a:t>
            </a:r>
            <a:r>
              <a:rPr lang="ru-RU" sz="1400" dirty="0">
                <a:solidFill>
                  <a:schemeClr val="bg1"/>
                </a:solidFill>
              </a:rPr>
              <a:t>sBjzBE2l8jil60DozHUotOCv9L7dixlj0nrck8g0</a:t>
            </a:r>
            <a:r>
              <a:rPr lang="ru-RU" sz="1400" dirty="0"/>
              <a:t>40JmqJWGpiWqSzM2fh3aME6dipP+k8x9d3NC6bMqOt7YX3znVYVyoxYMlYlbCjHomfzrI0y5BqUXnY4+cq8TYW</a:t>
            </a:r>
            <a:r>
              <a:rPr lang="ru-RU" sz="1400" dirty="0">
                <a:solidFill>
                  <a:schemeClr val="bg1"/>
                </a:solidFill>
              </a:rPr>
              <a:t>VOuDIUAQ7Vo9ajdyzEQjse+c8mEiZ3xv8+E7q</a:t>
            </a:r>
            <a:r>
              <a:rPr lang="ru-RU" sz="1400" dirty="0"/>
              <a:t>A22L+yL1Gy7RRMIiOsXU14cECUXe3Rjri8HdCTq+hx+b+QUFqA6s8d6p55ivpBaipCstwNbPdr/7DKG75Nb+0i+</a:t>
            </a:r>
            <a:r>
              <a:rPr lang="ru-RU" sz="1400" dirty="0">
                <a:solidFill>
                  <a:schemeClr val="bg1"/>
                </a:solidFill>
              </a:rPr>
              <a:t>ARViOnSqI5sI9sdmjsXwxBueo3gt/kdgHg81efT</a:t>
            </a:r>
            <a:r>
              <a:rPr lang="ru-RU" sz="1400" dirty="0"/>
              <a:t>sox0XjfkVB+8uoA8PPNnoBP4dGvMI6jggEsZGB9ViHZQi9ZZb6ljXbJyuu9oK9MtUBhFfrfJ4pMCEXPN6/X3ZD5</a:t>
            </a:r>
            <a:r>
              <a:rPr lang="ru-RU" sz="1400" dirty="0">
                <a:solidFill>
                  <a:schemeClr val="bg1"/>
                </a:solidFill>
              </a:rPr>
              <a:t>HcrWVPEb2AQzr/9GrDeeBH7dFoE9lwQvEEqT/O</a:t>
            </a:r>
            <a:r>
              <a:rPr lang="ru-RU" sz="1400" dirty="0"/>
              <a:t>LtR9KlRgCGOjXcLM5/WC1+KJOJlOBVYGZlvPk8UghrCE8Ikvjn11CI50S7ivllEnfR+Uc4P1BRURtRYiSgPSAOo</a:t>
            </a:r>
            <a:r>
              <a:rPr lang="ru-RU" sz="1400" dirty="0">
                <a:solidFill>
                  <a:schemeClr val="bg1"/>
                </a:solidFill>
              </a:rPr>
              <a:t>R8BXiGiF6nVtBHzKBgdHBThFGy55KTYo3oHQcrQ</a:t>
            </a:r>
            <a:r>
              <a:rPr lang="ru-RU" sz="1400" dirty="0"/>
              <a:t>cpCZePi9iqKhsQaOiy4zeikMkkySTAFDTlFm35GcEaeA7rKp6o5o0cWondkmROSskyv7PrICVP5aSVyBAAABAQD</a:t>
            </a:r>
            <a:r>
              <a:rPr lang="ru-RU" sz="1400" dirty="0">
                <a:solidFill>
                  <a:schemeClr val="bg1"/>
                </a:solidFill>
              </a:rPr>
              <a:t>GYCpgkNQ8eo3C02E7xHDSvSNwDOOmXXL</a:t>
            </a:r>
            <a:r>
              <a:rPr lang="ru-RU" sz="1400" dirty="0"/>
              <a:t>rFNdXiKkLvTXCRpBaFjOE/9PaXIJFIF5y53xj9xPBUj6VPetAitjScDLb8+p0ls8M/+PVzwWVHEaR57/maeDJravXWB</a:t>
            </a:r>
            <a:r>
              <a:rPr lang="ru-RU" sz="1400" dirty="0">
                <a:solidFill>
                  <a:schemeClr val="bg1"/>
                </a:solidFill>
              </a:rPr>
              <a:t>dwy9xaRyVwCqqeNPh67HNoNMEDO3Caoyc</a:t>
            </a:r>
            <a:r>
              <a:rPr lang="ru-RU" sz="1400" dirty="0"/>
              <a:t>lfnFMBOHfGYNjRyR0Rlx3YXXs5kK/3sSfvnYPok3u9sSBo1LxdXOeovF8zoONPJp24nU0Q14CDReMWAe7G7wua</a:t>
            </a:r>
            <a:r>
              <a:rPr lang="ru-RU" sz="1400" dirty="0">
                <a:solidFill>
                  <a:schemeClr val="bg1"/>
                </a:solidFill>
              </a:rPr>
              <a:t>eMEwbhvY8OBxU0KNuNNaFjd6u1b/wrR8Sh</a:t>
            </a:r>
            <a:r>
              <a:rPr lang="ru-RU" sz="1400" dirty="0"/>
              <a:t>DayBDm2E/y54j9p051oh1ETQY5u7JOa3ibW6797/FRy7LM5I7qYlmJlrJKQfOtxgAAABAQD+/h0ucnNut4x9N</a:t>
            </a:r>
            <a:r>
              <a:rPr lang="ru-RU" sz="1400" dirty="0">
                <a:solidFill>
                  <a:schemeClr val="bg1"/>
                </a:solidFill>
              </a:rPr>
              <a:t>ptKcnXbmf0WvJ6okFIMRLqrYokM9d7xZBZ+MJCD</a:t>
            </a:r>
            <a:r>
              <a:rPr lang="ru-RU" sz="1400" dirty="0"/>
              <a:t>ba6ZDMZ8ehr+11RzLOTrwvBWHIETXZuh2yiY8R8aY94h+k7vZvciDJ43M9jpoHFc+5Wm1vAIFalesOL0UKYteOAr3</a:t>
            </a:r>
            <a:r>
              <a:rPr lang="ru-RU" sz="1400" dirty="0">
                <a:solidFill>
                  <a:schemeClr val="bg1"/>
                </a:solidFill>
              </a:rPr>
              <a:t>ouzI2gOKp0v9wikUnk4152QkjaETdyuE5rOa</a:t>
            </a:r>
            <a:r>
              <a:rPr lang="ru-RU" sz="1400" dirty="0"/>
              <a:t>x/CoVrBm4XD7zi/hHH8jvae1YcP1eTUprJ7ZgZ17mi8vGt0f8LuNVnxumqx6jR4B+VkZQ1sncMd0BySquL7lorl8j0ngdO</a:t>
            </a:r>
            <a:r>
              <a:rPr lang="ru-RU" sz="1400" dirty="0">
                <a:solidFill>
                  <a:schemeClr val="bg1"/>
                </a:solidFill>
              </a:rPr>
              <a:t>0feWYHBOVw0uCq8hFDrL9aNwMJr6TTk</a:t>
            </a:r>
            <a:r>
              <a:rPr lang="ru-RU" sz="1400" dirty="0"/>
              <a:t>jhsTthjqLBG6oTR84RDvQFCEuAXraeNWTSBVhBAAABAQDz/FKAK/xZkGjMjERU0mJBq8YqIuW2FW6OVuCbdq</a:t>
            </a:r>
            <a:r>
              <a:rPr lang="ru-RU" sz="1400" dirty="0">
                <a:solidFill>
                  <a:schemeClr val="bg1"/>
                </a:solidFill>
              </a:rPr>
              <a:t>EjS8LHXd3R4JqamDWJGfc5lyPGPJH/29vQiXC</a:t>
            </a:r>
            <a:r>
              <a:rPr lang="ru-RU" sz="1400" dirty="0"/>
              <a:t>26RhjBFDc8oodLYx1bxEdPpcoGJsYiGKWG/q4Hy+TTS24OWKUQnc+lWAtHIVqCRRPk1en0l2Lk9oXXsYvv/7BjzZSa</a:t>
            </a:r>
            <a:r>
              <a:rPr lang="ru-RU" sz="1400" dirty="0">
                <a:solidFill>
                  <a:schemeClr val="bg1"/>
                </a:solidFill>
              </a:rPr>
              <a:t>UaUl+6DSTzUBVPcnw+mE/qxARfUGt3M8</a:t>
            </a:r>
            <a:r>
              <a:rPr lang="ru-RU" sz="1400" dirty="0"/>
              <a:t>uyz963W6ohrJQjjBRrgOZEYWjW1QYg2pWobiNdKaCZLk3QXEF/OFlMR7tuYpBjY2doIlx64cY4oFyqIce40gHMNt/V7</a:t>
            </a:r>
            <a:r>
              <a:rPr lang="ru-RU" sz="1400" dirty="0">
                <a:solidFill>
                  <a:schemeClr val="bg1"/>
                </a:solidFill>
              </a:rPr>
              <a:t>/zL</a:t>
            </a:r>
            <a:r>
              <a:rPr lang="ru-RU" sz="1400" dirty="0"/>
              <a:t>JlB</a:t>
            </a:r>
            <a:r>
              <a:rPr lang="ru-RU" sz="1400" dirty="0">
                <a:solidFill>
                  <a:schemeClr val="bg1"/>
                </a:solidFill>
              </a:rPr>
              <a:t>Njm1R3Vxt74FiZtrdnzZ27DgrLGWLyf</a:t>
            </a:r>
            <a:r>
              <a:rPr lang="ru-RU" sz="1400" dirty="0"/>
              <a:t>UqO9/UzQi29sdT7AAAAFnlvdXJfZW1haWxAZXhhbXBsZS5jb20BAgME</a:t>
            </a:r>
            <a:br>
              <a:rPr lang="ru-RU" sz="1400" dirty="0"/>
            </a:br>
            <a:r>
              <a:rPr lang="ru-RU" sz="1400" dirty="0"/>
              <a:t>-----END OPENSSH PRIVATE KEY-----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2E80CD8B-5590-4F88-4744-4E2E296E0ACE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Пример закрытого ключа</a:t>
            </a:r>
          </a:p>
        </p:txBody>
      </p:sp>
    </p:spTree>
    <p:extLst>
      <p:ext uri="{BB962C8B-B14F-4D97-AF65-F5344CB8AC3E}">
        <p14:creationId xmlns:p14="http://schemas.microsoft.com/office/powerpoint/2010/main" val="3950042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EDC80-5907-27CF-0967-97C375DD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35E4E2F-2C6B-F315-DD34-77A64C2AE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805" y="1343818"/>
            <a:ext cx="6249087" cy="5134770"/>
          </a:xfrm>
        </p:spPr>
        <p:txBody>
          <a:bodyPr>
            <a:normAutofit fontScale="40000" lnSpcReduction="20000"/>
          </a:bodyPr>
          <a:lstStyle/>
          <a:p>
            <a:pPr marL="0" indent="0" algn="just">
              <a:buNone/>
            </a:pPr>
            <a:r>
              <a:rPr lang="ru-RU" sz="5900" dirty="0"/>
              <a:t>	Предоставление доступа к ресурсам на основе сертификатов обеспечивает возможности единого входа в систему (</a:t>
            </a:r>
            <a:r>
              <a:rPr lang="en-US" sz="5900" b="1" dirty="0"/>
              <a:t>single sign</a:t>
            </a:r>
            <a:r>
              <a:rPr lang="ru-RU" sz="5900" b="1" dirty="0"/>
              <a:t>-</a:t>
            </a:r>
            <a:r>
              <a:rPr lang="en-US" sz="5900" b="1" dirty="0"/>
              <a:t>on</a:t>
            </a:r>
            <a:r>
              <a:rPr lang="ru-RU" sz="5900" dirty="0"/>
              <a:t>), поддерживая таким об</a:t>
            </a:r>
            <a:r>
              <a:rPr lang="en-US" sz="5900" dirty="0"/>
              <a:t>p</a:t>
            </a:r>
            <a:r>
              <a:rPr lang="ru-RU" sz="5900" dirty="0"/>
              <a:t>азом одно из основополагающих положений </a:t>
            </a:r>
            <a:r>
              <a:rPr lang="ru-RU" sz="5900" b="1" dirty="0"/>
              <a:t>концепции </a:t>
            </a:r>
            <a:r>
              <a:rPr lang="en-US" sz="5900" b="1" dirty="0"/>
              <a:t>Grid</a:t>
            </a:r>
            <a:r>
              <a:rPr lang="ru-RU" sz="5900" dirty="0"/>
              <a:t>.</a:t>
            </a:r>
          </a:p>
          <a:p>
            <a:pPr marL="0" indent="0" algn="just">
              <a:buNone/>
            </a:pPr>
            <a:r>
              <a:rPr lang="ru-RU" sz="5900" dirty="0"/>
              <a:t>	В целях безопасности персональный сертификат не используется п</a:t>
            </a:r>
            <a:r>
              <a:rPr lang="en-US" sz="5900" dirty="0"/>
              <a:t>p</a:t>
            </a:r>
            <a:r>
              <a:rPr lang="ru-RU" sz="5900" dirty="0"/>
              <a:t>и доступе напрямую, поскольку его </a:t>
            </a:r>
            <a:r>
              <a:rPr lang="ru-RU" sz="5900" b="1" dirty="0"/>
              <a:t>утечка может дать злоумышленнику все возможности</a:t>
            </a:r>
            <a:r>
              <a:rPr lang="ru-RU" sz="5900" dirty="0"/>
              <a:t>, доступные для пользователя. Вместо этого на основе персонального сертификата строится другой сертификат с ограниченными возможностями и сокращённым с</a:t>
            </a:r>
            <a:r>
              <a:rPr lang="en-US" sz="5900" dirty="0"/>
              <a:t>p</a:t>
            </a:r>
            <a:r>
              <a:rPr lang="ru-RU" sz="5900" dirty="0"/>
              <a:t>оком действия, на основе кото</a:t>
            </a:r>
            <a:r>
              <a:rPr lang="en-US" sz="5900" dirty="0"/>
              <a:t>p</a:t>
            </a:r>
            <a:r>
              <a:rPr lang="ru-RU" sz="5900" dirty="0"/>
              <a:t>ого обеспечивается доступ к ресурсам. Такой сертификат называется </a:t>
            </a:r>
            <a:r>
              <a:rPr lang="ru-RU" sz="5900" b="1" dirty="0"/>
              <a:t>п</a:t>
            </a:r>
            <a:r>
              <a:rPr lang="en-US" sz="5900" b="1" dirty="0"/>
              <a:t>p</a:t>
            </a:r>
            <a:r>
              <a:rPr lang="ru-RU" sz="5900" b="1" dirty="0"/>
              <a:t>окси-сертификатом</a:t>
            </a:r>
            <a:r>
              <a:rPr lang="ru-RU" sz="5900" dirty="0"/>
              <a:t>.</a:t>
            </a:r>
          </a:p>
          <a:p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C36A95C2-C5CD-20B2-1D67-6913A324E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728696" y="1343818"/>
            <a:ext cx="5017690" cy="5134770"/>
          </a:xfrm>
          <a:prstGeom prst="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2F37A58-E5EC-DB09-437A-F1761DD9CA06}"/>
              </a:ext>
            </a:extLst>
          </p:cNvPr>
          <p:cNvSpPr txBox="1">
            <a:spLocks/>
          </p:cNvSpPr>
          <p:nvPr/>
        </p:nvSpPr>
        <p:spPr>
          <a:xfrm>
            <a:off x="0" y="18255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/>
              <a:t>Безопасность сертификатов</a:t>
            </a:r>
          </a:p>
        </p:txBody>
      </p:sp>
    </p:spTree>
    <p:extLst>
      <p:ext uri="{BB962C8B-B14F-4D97-AF65-F5344CB8AC3E}">
        <p14:creationId xmlns:p14="http://schemas.microsoft.com/office/powerpoint/2010/main" val="1165739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 descr="Demystifying OAuth 2.0: A Comprehensive Guide for MuleSoft Developers | by  Sri Uday Kumar Dhanala | Medium">
            <a:extLst>
              <a:ext uri="{FF2B5EF4-FFF2-40B4-BE49-F238E27FC236}">
                <a16:creationId xmlns:a16="http://schemas.microsoft.com/office/drawing/2014/main" id="{27A5AC41-56B2-F58B-AF6E-C0C4EA58B3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 rot="19751527">
            <a:off x="6427534" y="2209742"/>
            <a:ext cx="5714286" cy="3809524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CC39889C-4396-DEAE-979F-6BFE66D4C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OAuth2 — наиболее популярный и расширяемый фреймворк авторизации. Он позволяет интегрировать различные системы, делегируя доступ к вашим данным одного сервиса другому. Основная идея </a:t>
            </a:r>
            <a:r>
              <a:rPr lang="en-US" dirty="0"/>
              <a:t>OAuth</a:t>
            </a:r>
            <a:r>
              <a:rPr lang="ru-RU" dirty="0"/>
              <a:t>2 в том, чтобы дать пользователям возможность решать, какие приложения имеют доступ к их данным.</a:t>
            </a:r>
          </a:p>
          <a:p>
            <a:pPr marL="0" indent="0" algn="just">
              <a:buNone/>
            </a:pPr>
            <a:r>
              <a:rPr lang="ru-RU" dirty="0"/>
              <a:t>	</a:t>
            </a:r>
            <a:r>
              <a:rPr lang="en-US" dirty="0"/>
              <a:t>OAuth</a:t>
            </a:r>
            <a:r>
              <a:rPr lang="ru-RU" dirty="0"/>
              <a:t>2 определяет четыре основных роли для организации процесса делегирования: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AD52850-9177-61EE-D78A-63D771555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2425"/>
            <a:ext cx="10515600" cy="1325563"/>
          </a:xfrm>
        </p:spPr>
        <p:txBody>
          <a:bodyPr/>
          <a:lstStyle/>
          <a:p>
            <a:r>
              <a:rPr lang="ru-RU" b="1" dirty="0"/>
              <a:t> </a:t>
            </a:r>
            <a:r>
              <a:rPr lang="en-US" b="1" dirty="0"/>
              <a:t>II.    Web-</a:t>
            </a:r>
            <a:r>
              <a:rPr lang="ru-RU" b="1" dirty="0"/>
              <a:t>аутентификация</a:t>
            </a:r>
          </a:p>
        </p:txBody>
      </p:sp>
    </p:spTree>
    <p:extLst>
      <p:ext uri="{BB962C8B-B14F-4D97-AF65-F5344CB8AC3E}">
        <p14:creationId xmlns:p14="http://schemas.microsoft.com/office/powerpoint/2010/main" val="267046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☰ Макі-роли з лососем ціна 350 грн замовити з доставкою в місті Києві">
            <a:extLst>
              <a:ext uri="{FF2B5EF4-FFF2-40B4-BE49-F238E27FC236}">
                <a16:creationId xmlns:a16="http://schemas.microsoft.com/office/drawing/2014/main" id="{306263CF-4874-E9A3-BF5D-97228D813CD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883843" y="288925"/>
            <a:ext cx="4205287" cy="280352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42003E-8DE9-51F2-03C6-CEED6D4D5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Роли в </a:t>
            </a:r>
            <a:r>
              <a:rPr lang="en-US" dirty="0"/>
              <a:t>OAuth</a:t>
            </a:r>
            <a:r>
              <a:rPr lang="ru-RU" dirty="0"/>
              <a:t>2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36C03B-1875-36ED-B5E2-BC79CF5EC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ru-RU" b="1" dirty="0"/>
              <a:t>Сервер Ресурса</a:t>
            </a:r>
            <a:r>
              <a:rPr lang="ru-RU" dirty="0"/>
              <a:t>. Это сервис, к которому нужен доступ приложению клиента, либо от имени самого приложения, либо от имени пользователя. </a:t>
            </a:r>
          </a:p>
          <a:p>
            <a:pPr lvl="0" algn="just"/>
            <a:r>
              <a:rPr lang="ru-RU" b="1" dirty="0"/>
              <a:t>Владелец Ресурса</a:t>
            </a:r>
            <a:r>
              <a:rPr lang="ru-RU" dirty="0"/>
              <a:t> (пользователь, если это человек). Сущность, которая имеет права на использование сервера ресурса и может выдавать права доступа приложению клиента.</a:t>
            </a:r>
          </a:p>
          <a:p>
            <a:pPr lvl="0" algn="just"/>
            <a:r>
              <a:rPr lang="ru-RU" b="1" dirty="0"/>
              <a:t>Сервер Авторизации</a:t>
            </a:r>
            <a:r>
              <a:rPr lang="ru-RU" dirty="0"/>
              <a:t>. Этот сервис выдает токены доступа к ресурсу приложению клиента в обмен на различные способы авторизации.</a:t>
            </a:r>
          </a:p>
          <a:p>
            <a:pPr lvl="0" algn="just"/>
            <a:r>
              <a:rPr lang="ru-RU" b="1" dirty="0"/>
              <a:t>Приложение Клиента</a:t>
            </a:r>
            <a:r>
              <a:rPr lang="ru-RU" dirty="0"/>
              <a:t> (или клиент, </a:t>
            </a:r>
            <a:r>
              <a:rPr lang="en-US" dirty="0"/>
              <a:t>OAuth</a:t>
            </a:r>
            <a:r>
              <a:rPr lang="ru-RU" dirty="0"/>
              <a:t>‑приложение). Приложение или сервис, обращающееся к защищенному серверу ресурса, обычно от имени владельца ресурса.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900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9471F-EDD6-0F56-5C71-563A8B6B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9686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Роли в </a:t>
            </a:r>
            <a:r>
              <a:rPr lang="en-US" dirty="0"/>
              <a:t>OAuth</a:t>
            </a:r>
            <a:r>
              <a:rPr lang="ru-RU" dirty="0"/>
              <a:t>2 </a:t>
            </a:r>
          </a:p>
        </p:txBody>
      </p:sp>
      <p:pic>
        <p:nvPicPr>
          <p:cNvPr id="4" name="Рисунок 3" descr="Роли OAuth2 и высокоуровневое взаимодействие между ними">
            <a:extLst>
              <a:ext uri="{FF2B5EF4-FFF2-40B4-BE49-F238E27FC236}">
                <a16:creationId xmlns:a16="http://schemas.microsoft.com/office/drawing/2014/main" id="{94232065-7DB1-74CF-DD54-1DD5A7CCC0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425" y="546100"/>
            <a:ext cx="8833306" cy="6311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3419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B80AF-825C-3C7C-BBE4-5B42FC5D6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Пример </a:t>
            </a:r>
            <a:r>
              <a:rPr lang="en-US" dirty="0"/>
              <a:t>OAuth</a:t>
            </a:r>
            <a:r>
              <a:rPr lang="ru-RU" dirty="0"/>
              <a:t> из жизни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A060265-ABCF-16EA-60DD-0F2470F93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080" y="1120775"/>
            <a:ext cx="6031839" cy="573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026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Удаленное управление компьютером средствами Windows">
            <a:extLst>
              <a:ext uri="{FF2B5EF4-FFF2-40B4-BE49-F238E27FC236}">
                <a16:creationId xmlns:a16="http://schemas.microsoft.com/office/drawing/2014/main" id="{DBC83197-4A35-B016-EBA7-5E84AE00A83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3928110" y="1303020"/>
            <a:ext cx="9258300" cy="555498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C2E675-CE68-45BC-513B-5E3F64AB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Недостаток </a:t>
            </a:r>
            <a:r>
              <a:rPr lang="en-US" b="1" dirty="0"/>
              <a:t>Web-</a:t>
            </a:r>
            <a:r>
              <a:rPr lang="ru-RU" b="1" dirty="0"/>
              <a:t>аутентификации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F29CF8-76F4-408F-D6F5-B5A27B24C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	П</a:t>
            </a:r>
            <a:r>
              <a:rPr lang="en-US" dirty="0"/>
              <a:t>p</a:t>
            </a:r>
            <a:r>
              <a:rPr lang="ru-RU" dirty="0"/>
              <a:t>и таком подходе </a:t>
            </a:r>
            <a:r>
              <a:rPr lang="en-US" dirty="0"/>
              <a:t>Grid</a:t>
            </a:r>
            <a:r>
              <a:rPr lang="ru-RU" dirty="0"/>
              <a:t>-инфраструктура в значительной степени изолируются от пользователя, что ограничивает её потенциальные возможности. </a:t>
            </a:r>
          </a:p>
          <a:p>
            <a:pPr marL="0" indent="0" algn="just">
              <a:buNone/>
            </a:pPr>
            <a:r>
              <a:rPr lang="ru-RU" dirty="0"/>
              <a:t>	Более того, в этом случае хотя и обеспечиваются более широкие возможности по интеграции с </a:t>
            </a:r>
            <a:r>
              <a:rPr lang="en-US" dirty="0"/>
              <a:t>web</a:t>
            </a:r>
            <a:r>
              <a:rPr lang="ru-RU" dirty="0"/>
              <a:t>-приложения, но процесс сопровождается практически полным отказом от непосредственно доступа к </a:t>
            </a:r>
            <a:r>
              <a:rPr lang="en-US" dirty="0"/>
              <a:t>Grid</a:t>
            </a:r>
            <a:r>
              <a:rPr lang="ru-RU" dirty="0"/>
              <a:t>-ресурсам.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58486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986</Words>
  <Application>Microsoft Office PowerPoint</Application>
  <PresentationFormat>Широкоэкранный</PresentationFormat>
  <Paragraphs>35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Тема Office</vt:lpstr>
      <vt:lpstr>Механизм аутентификации Grid в Web-приложениях и сервисах</vt:lpstr>
      <vt:lpstr>Варианты аутентификации</vt:lpstr>
      <vt:lpstr> Персональные сертификаты</vt:lpstr>
      <vt:lpstr>Примеры сертификатов</vt:lpstr>
      <vt:lpstr>Проверка на подлинность</vt:lpstr>
      <vt:lpstr>Проверка на подлинность</vt:lpstr>
      <vt:lpstr>Презентация PowerPoint</vt:lpstr>
      <vt:lpstr>Презентация PowerPoint</vt:lpstr>
      <vt:lpstr>Презентация PowerPoint</vt:lpstr>
      <vt:lpstr> II.    Web-аутентификация</vt:lpstr>
      <vt:lpstr>Роли в OAuth2 </vt:lpstr>
      <vt:lpstr>Роли в OAuth2 </vt:lpstr>
      <vt:lpstr>Пример OAuth из жизни</vt:lpstr>
      <vt:lpstr>Недостаток Web-аутентификации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Блек Джек</dc:creator>
  <cp:lastModifiedBy>Oleg Krinkin</cp:lastModifiedBy>
  <cp:revision>13</cp:revision>
  <dcterms:created xsi:type="dcterms:W3CDTF">2026-09-21T07:49:45Z</dcterms:created>
  <dcterms:modified xsi:type="dcterms:W3CDTF">2026-09-21T09:34:35Z</dcterms:modified>
</cp:coreProperties>
</file>