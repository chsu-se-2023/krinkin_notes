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208621-1C66-41B9-85D7-8CE15741E3B1}">
  <a:tblStyle styleId="{3E208621-1C66-41B9-85D7-8CE15741E3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Relationship Id="rId5" Type="http://schemas.openxmlformats.org/officeDocument/2006/relationships/hyperlink" Target="https://www.rosrid.ru/" TargetMode="External"/><Relationship Id="rId6" Type="http://schemas.openxmlformats.org/officeDocument/2006/relationships/hyperlink" Target="https://www1.fips.ru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989" y="371941"/>
            <a:ext cx="2535284" cy="264937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>
            <p:ph type="ctrTitle"/>
          </p:nvPr>
        </p:nvSpPr>
        <p:spPr>
          <a:xfrm>
            <a:off x="2220797" y="1680995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Научно-исследовательская работа</a:t>
            </a:r>
            <a:endParaRPr/>
          </a:p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2508737" y="444609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Руководитель практики: Сальникова О.С., 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кандидат филологических наук, доцент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838200" y="365126"/>
            <a:ext cx="105156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ru-RU"/>
              <a:t>Место и цель практики</a:t>
            </a:r>
            <a:endParaRPr/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/>
              <a:t>Основная цель НИР </a:t>
            </a:r>
            <a:r>
              <a:rPr lang="ru-RU"/>
              <a:t>- развитие у студентов развитие способности самостоятельного осуществления научно-исследовательской работы, связанной с решением сложных профессиональных  задач.</a:t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838200" y="365125"/>
            <a:ext cx="105156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ru-RU"/>
              <a:t>Содержание практики</a:t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838200" y="1789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{3E208621-1C66-41B9-85D7-8CE15741E3B1}</a:tableStyleId>
              </a:tblPr>
              <a:tblGrid>
                <a:gridCol w="3443650"/>
                <a:gridCol w="7071950"/>
              </a:tblGrid>
              <a:tr h="335625">
                <a:tc>
                  <a:txBody>
                    <a:bodyPr/>
                    <a:lstStyle/>
                    <a:p>
                      <a:pPr indent="25400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Разделы (этапы) практики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5400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Содержание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6850">
                <a:tc>
                  <a:txBody>
                    <a:bodyPr/>
                    <a:lstStyle/>
                    <a:p>
                      <a:pPr indent="25400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Подготовительный этап 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159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1.1. Выбор научного направления, темы исследования и научного руководителя. </a:t>
                      </a:r>
                      <a:endParaRPr/>
                    </a:p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1.2. Формирование программы исследования. </a:t>
                      </a:r>
                      <a:endParaRPr/>
                    </a:p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1.3. Подбор средств и инструментария.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5500">
                <a:tc>
                  <a:txBody>
                    <a:bodyPr/>
                    <a:lstStyle/>
                    <a:p>
                      <a:pPr indent="25400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2.Практический этап </a:t>
                      </a:r>
                      <a:endParaRPr/>
                    </a:p>
                    <a:p>
                      <a:pPr indent="0" lvl="0" marL="457200" marR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2.1. Изучение научно-технической литературы для решения поставленных задач.</a:t>
                      </a:r>
                      <a:endParaRPr/>
                    </a:p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2.2. Осуществление сбора, обработки, анализа, сопоставления и систематизации информации по теме исследований, определение задачи исследования, составление программы и общей методики исследования.</a:t>
                      </a:r>
                      <a:endParaRPr/>
                    </a:p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2.3. Решение задач проектного исследования. </a:t>
                      </a:r>
                      <a:endParaRPr/>
                    </a:p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2.4. Обоснование полученных результатов.</a:t>
                      </a:r>
                      <a:endParaRPr/>
                    </a:p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2.5.Формулировка выводов. 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225">
                <a:tc>
                  <a:txBody>
                    <a:bodyPr/>
                    <a:lstStyle/>
                    <a:p>
                      <a:pPr indent="25400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Заключительный этап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159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3.1. Оформление отчетной документации по практике.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838200" y="365125"/>
            <a:ext cx="10515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ru-RU"/>
              <a:t>Задания на практику</a:t>
            </a:r>
            <a:endParaRPr/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1375507" y="14849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{3E208621-1C66-41B9-85D7-8CE15741E3B1}</a:tableStyleId>
              </a:tblPr>
              <a:tblGrid>
                <a:gridCol w="7723725"/>
                <a:gridCol w="2108025"/>
              </a:tblGrid>
              <a:tr h="63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Задания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Формы представления результатов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6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Задание 1. 	</a:t>
                      </a: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Изучение предметной области. Определение темы ВКР. Описание предметной области как объекта (контроля, управления, прогнозирования).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Раздел отчета.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Задание 2.</a:t>
                      </a: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Планирование работ по проекту.</a:t>
                      </a: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	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Раздел отчета.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Задание 3.</a:t>
                      </a: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Выбор технологии и инструментальных средств реализации проекта.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Раздел отчета.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6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Задание 4.</a:t>
                      </a: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Анализ существующих технических решений (модели, методы, алгоритмы, средства). Постановка задачи, разработка требований к информационному и аппаратно-программному обеспечению.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Раздел отчета.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6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Задание 5.</a:t>
                      </a:r>
                      <a:r>
                        <a:rPr lang="ru-RU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Подбор математического аппарата, используемого для реализации проекта.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Раздел отчета.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Оформление документации (отчет)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Отчет.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0385" y="497986"/>
            <a:ext cx="105156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ru-RU"/>
              <a:t>Содержание отчета по научно-исследовательской работе</a:t>
            </a:r>
            <a:br>
              <a:rPr lang="ru-RU"/>
            </a:b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838200" y="1449977"/>
            <a:ext cx="10515600" cy="4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Введение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Анализ предметной области, постановка задачи: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1. Изучение предметной области. Определение темы ВКР. Описание предметной области как объекта (контроля, управления, прогнозирования).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2. Планирование работ по проекту.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3. Выбор технологии и инструментальных средств реализации проекта.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4. Анализ существующих технических решений (модели, методы, алгоритмы, средства). Постановка задачи, разработка требований к информационному и аппаратно-программному обеспечению.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5. Подбор математического аппарата, используемого для реализации проекта.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Заключение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Список литературы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838200" y="365126"/>
            <a:ext cx="105156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ru-RU"/>
              <a:t>Структура Введения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838200" y="1289538"/>
            <a:ext cx="10515600" cy="48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1. Актуальность Вашей темы.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2. Проблема исследования.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3. Цель Вашего исследования.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4. Практическая значимость.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838200" y="365125"/>
            <a:ext cx="10515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ru-RU"/>
              <a:t>Заключение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838200" y="1172308"/>
            <a:ext cx="10515600" cy="50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В заключении необходимо зафиксировать </a:t>
            </a:r>
            <a:r>
              <a:rPr b="1" lang="ru-RU"/>
              <a:t>общие выводы </a:t>
            </a:r>
            <a:r>
              <a:rPr lang="ru-RU"/>
              <a:t>по практике, которые получили в процессе прохождения практики.</a:t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892908" y="5995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ru-RU"/>
              <a:t>Требования к оформлению и структуре аналитического отчета</a:t>
            </a:r>
            <a:br>
              <a:rPr lang="ru-RU"/>
            </a:b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/>
              <a:t>Отчёт выполняется на листах формата А4, текст печатается шрифтом Times New Roman, кегль 14 через 1,5 интервал.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/>
              <a:t>Наличие обязательных разделов в отчете.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/>
              <a:t>Оформление списка литературы по ГОСТу.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ru-RU"/>
              <a:t>Ссылки на литературу: например, [15, с.45-46].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838200" y="365126"/>
            <a:ext cx="105156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b="1" lang="ru-RU">
                <a:solidFill>
                  <a:srgbClr val="FF0000"/>
                </a:solidFill>
              </a:rPr>
              <a:t>Сдача отчетов_печатная форма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838200" y="1201783"/>
            <a:ext cx="10515600" cy="4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b="1" lang="ru-RU" sz="3500"/>
              <a:t>15.12.2025, 12:00, 205 ауд., Сов. 8 – ПИ-3, ПИ-4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b="1" lang="ru-RU" sz="3500"/>
              <a:t>17.12.2025, 12:00, 221 ауд., Сов. 8  – ПИ-1, ПИ-2</a:t>
            </a:r>
            <a:endParaRPr b="1" sz="3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838200" y="365125"/>
            <a:ext cx="10515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ru-RU"/>
              <a:t>Ресурсы для подготовки отчета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838200" y="1508369"/>
            <a:ext cx="10515600" cy="4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Электронная научная библиотека - </a:t>
            </a:r>
            <a:r>
              <a:rPr lang="ru-RU" u="sng">
                <a:solidFill>
                  <a:schemeClr val="hlink"/>
                </a:solidFill>
                <a:hlinkClick r:id="rId3"/>
              </a:rPr>
              <a:t>https://www.elibrary.ru/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Единая государственная информационная система учета научно-исследовательских, опытно-конструкторских и технологических работ гражданского назначения - </a:t>
            </a:r>
            <a:r>
              <a:rPr lang="ru-RU" u="sng">
                <a:solidFill>
                  <a:schemeClr val="hlink"/>
                </a:solidFill>
                <a:hlinkClick r:id="rId5"/>
              </a:rPr>
              <a:t>https://www.rosrid.ru/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Федеральный институт промышленной собственности - </a:t>
            </a:r>
            <a:r>
              <a:rPr lang="ru-RU" u="sng">
                <a:solidFill>
                  <a:schemeClr val="hlink"/>
                </a:solidFill>
                <a:hlinkClick r:id="rId6"/>
              </a:rPr>
              <a:t>https://www1.fips.ru/</a:t>
            </a:r>
            <a:endParaRPr u="sng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«КиберЛенинка» - https://cyberleninka.ru/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2220797" y="1680995"/>
            <a:ext cx="91440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Вопросы?</a:t>
            </a:r>
            <a:endParaRPr/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5" y="310104"/>
            <a:ext cx="2535284" cy="2649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